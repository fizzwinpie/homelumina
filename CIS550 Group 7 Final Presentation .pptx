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4"/>
    <p:sldMasterId id="2147483678" r:id="rId5"/>
    <p:sldMasterId id="214748367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Lustria"/>
      <p:regular r:id="rId20"/>
    </p:embeddedFont>
    <p:embeddedFont>
      <p:font typeface="Gill Sans"/>
      <p:regular r:id="rId21"/>
      <p:bold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ustria-regular.fntdata"/><Relationship Id="rId22" Type="http://schemas.openxmlformats.org/officeDocument/2006/relationships/font" Target="fonts/GillSans-bold.fntdata"/><Relationship Id="rId21" Type="http://schemas.openxmlformats.org/officeDocument/2006/relationships/font" Target="fonts/GillSans-regular.fntdata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72e40ffe43_2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72e40ffe43_2_1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7391d205c9_5_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John</a:t>
            </a:r>
            <a:endParaRPr/>
          </a:p>
        </p:txBody>
      </p:sp>
      <p:sp>
        <p:nvSpPr>
          <p:cNvPr id="270" name="Google Shape;270;g37391d205c9_5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7391d205c9_5_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John</a:t>
            </a:r>
            <a:endParaRPr/>
          </a:p>
        </p:txBody>
      </p:sp>
      <p:sp>
        <p:nvSpPr>
          <p:cNvPr id="282" name="Google Shape;282;g37391d205c9_5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391d205c9_5_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John</a:t>
            </a:r>
            <a:endParaRPr/>
          </a:p>
        </p:txBody>
      </p:sp>
      <p:sp>
        <p:nvSpPr>
          <p:cNvPr id="291" name="Google Shape;291;g37391d205c9_5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7391d205c9_5_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Roy</a:t>
            </a:r>
            <a:endParaRPr/>
          </a:p>
        </p:txBody>
      </p:sp>
      <p:sp>
        <p:nvSpPr>
          <p:cNvPr id="300" name="Google Shape;300;g37391d205c9_5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7391d205c9_5_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Roy</a:t>
            </a:r>
            <a:endParaRPr/>
          </a:p>
        </p:txBody>
      </p:sp>
      <p:sp>
        <p:nvSpPr>
          <p:cNvPr id="315" name="Google Shape;315;g37391d205c9_5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7391d205c9_5_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Filmon</a:t>
            </a:r>
            <a:endParaRPr/>
          </a:p>
        </p:txBody>
      </p:sp>
      <p:sp>
        <p:nvSpPr>
          <p:cNvPr id="324" name="Google Shape;324;g37391d205c9_5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7391d205c9_5_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Filmon</a:t>
            </a:r>
            <a:endParaRPr/>
          </a:p>
        </p:txBody>
      </p:sp>
      <p:sp>
        <p:nvSpPr>
          <p:cNvPr id="333" name="Google Shape;333;g37391d205c9_5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7391d205c9_5_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Filmon</a:t>
            </a:r>
            <a:endParaRPr/>
          </a:p>
        </p:txBody>
      </p:sp>
      <p:sp>
        <p:nvSpPr>
          <p:cNvPr id="349" name="Google Shape;349;g37391d205c9_5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7391d205c9_5_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</a:t>
            </a:r>
            <a:endParaRPr/>
          </a:p>
        </p:txBody>
      </p:sp>
      <p:sp>
        <p:nvSpPr>
          <p:cNvPr id="362" name="Google Shape;362;g37391d205c9_5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760da8c564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</a:t>
            </a:r>
            <a:endParaRPr/>
          </a:p>
        </p:txBody>
      </p:sp>
      <p:sp>
        <p:nvSpPr>
          <p:cNvPr id="414" name="Google Shape;414;g3760da8c564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7391d205c9_5_1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37391d205c9_5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vider Slide">
  <p:cSld name="1_Divider Slid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-56445" y="5"/>
            <a:ext cx="9206100" cy="5151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2-line-whitetext-colorshield.png" id="58" name="Google Shape;5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5599" y="4296762"/>
            <a:ext cx="1769928" cy="650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 amt="9000"/>
          </a:blip>
          <a:srcRect b="0" l="0" r="0" t="0"/>
          <a:stretch/>
        </p:blipFill>
        <p:spPr>
          <a:xfrm>
            <a:off x="199388" y="151675"/>
            <a:ext cx="3080816" cy="34577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>
            <p:ph type="ctrTitle"/>
          </p:nvPr>
        </p:nvSpPr>
        <p:spPr>
          <a:xfrm>
            <a:off x="958151" y="1073526"/>
            <a:ext cx="7397100" cy="174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958151" y="3255792"/>
            <a:ext cx="7397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94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94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94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94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9pPr>
          </a:lstStyle>
          <a:p/>
        </p:txBody>
      </p:sp>
      <p:grpSp>
        <p:nvGrpSpPr>
          <p:cNvPr id="62" name="Google Shape;62;p14"/>
          <p:cNvGrpSpPr/>
          <p:nvPr/>
        </p:nvGrpSpPr>
        <p:grpSpPr>
          <a:xfrm rot="10800000">
            <a:off x="194" y="3001129"/>
            <a:ext cx="8355349" cy="57462"/>
            <a:chOff x="685800" y="1794746"/>
            <a:chExt cx="7772418" cy="179400"/>
          </a:xfrm>
        </p:grpSpPr>
        <p:sp>
          <p:nvSpPr>
            <p:cNvPr id="63" name="Google Shape;63;p14"/>
            <p:cNvSpPr/>
            <p:nvPr/>
          </p:nvSpPr>
          <p:spPr>
            <a:xfrm>
              <a:off x="685800" y="1794746"/>
              <a:ext cx="1170900" cy="17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1856619" y="1794746"/>
              <a:ext cx="2206500" cy="17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4063218" y="1794746"/>
              <a:ext cx="4395000" cy="17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9" name="Google Shape;69;p15"/>
          <p:cNvGrpSpPr/>
          <p:nvPr/>
        </p:nvGrpSpPr>
        <p:grpSpPr>
          <a:xfrm>
            <a:off x="-5079" y="708812"/>
            <a:ext cx="8691895" cy="47487"/>
            <a:chOff x="685800" y="1794746"/>
            <a:chExt cx="7772418" cy="179400"/>
          </a:xfrm>
        </p:grpSpPr>
        <p:sp>
          <p:nvSpPr>
            <p:cNvPr id="70" name="Google Shape;70;p15"/>
            <p:cNvSpPr/>
            <p:nvPr/>
          </p:nvSpPr>
          <p:spPr>
            <a:xfrm>
              <a:off x="685800" y="1794746"/>
              <a:ext cx="1170900" cy="17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1856619" y="1794746"/>
              <a:ext cx="2206500" cy="17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4063218" y="1794746"/>
              <a:ext cx="4395000" cy="17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457200" y="1104904"/>
            <a:ext cx="8082600" cy="3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">
  <p:cSld name="3_Title and Conte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/>
          <p:nvPr/>
        </p:nvSpPr>
        <p:spPr>
          <a:xfrm>
            <a:off x="9" y="0"/>
            <a:ext cx="9144000" cy="5143500"/>
          </a:xfrm>
          <a:prstGeom prst="rect">
            <a:avLst/>
          </a:prstGeom>
          <a:solidFill>
            <a:srgbClr val="D7D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6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430464" y="902369"/>
            <a:ext cx="8229600" cy="3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79" name="Google Shape;79;p16"/>
          <p:cNvGrpSpPr/>
          <p:nvPr/>
        </p:nvGrpSpPr>
        <p:grpSpPr>
          <a:xfrm>
            <a:off x="-5079" y="708812"/>
            <a:ext cx="8691895" cy="47487"/>
            <a:chOff x="685800" y="1794746"/>
            <a:chExt cx="7772418" cy="179400"/>
          </a:xfrm>
        </p:grpSpPr>
        <p:sp>
          <p:nvSpPr>
            <p:cNvPr id="80" name="Google Shape;80;p16"/>
            <p:cNvSpPr/>
            <p:nvPr/>
          </p:nvSpPr>
          <p:spPr>
            <a:xfrm>
              <a:off x="685800" y="1794746"/>
              <a:ext cx="1170900" cy="17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1856619" y="1794746"/>
              <a:ext cx="2206500" cy="17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2" name="Google Shape;82;p16"/>
            <p:cNvSpPr/>
            <p:nvPr/>
          </p:nvSpPr>
          <p:spPr>
            <a:xfrm>
              <a:off x="4063218" y="1794746"/>
              <a:ext cx="4395000" cy="17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pic>
        <p:nvPicPr>
          <p:cNvPr descr="1-line-bluetext-colorshield.png" id="83" name="Google Shape;8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4699003"/>
            <a:ext cx="1809094" cy="347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430464" y="902369"/>
            <a:ext cx="8229600" cy="3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88" name="Google Shape;88;p17"/>
          <p:cNvGrpSpPr/>
          <p:nvPr/>
        </p:nvGrpSpPr>
        <p:grpSpPr>
          <a:xfrm>
            <a:off x="-5079" y="708812"/>
            <a:ext cx="8691895" cy="47487"/>
            <a:chOff x="685800" y="1794746"/>
            <a:chExt cx="7772418" cy="179400"/>
          </a:xfrm>
        </p:grpSpPr>
        <p:sp>
          <p:nvSpPr>
            <p:cNvPr id="89" name="Google Shape;89;p17"/>
            <p:cNvSpPr/>
            <p:nvPr/>
          </p:nvSpPr>
          <p:spPr>
            <a:xfrm>
              <a:off x="685800" y="1794746"/>
              <a:ext cx="1170900" cy="17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0" name="Google Shape;90;p17"/>
            <p:cNvSpPr/>
            <p:nvPr/>
          </p:nvSpPr>
          <p:spPr>
            <a:xfrm>
              <a:off x="1856619" y="1794746"/>
              <a:ext cx="2206500" cy="17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1" name="Google Shape;91;p17"/>
            <p:cNvSpPr/>
            <p:nvPr/>
          </p:nvSpPr>
          <p:spPr>
            <a:xfrm>
              <a:off x="4063218" y="1794746"/>
              <a:ext cx="4395000" cy="17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 type="title">
  <p:cSld name="TITL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-line-bluetext-colorshield.png" id="93" name="Google Shape;93;p18"/>
          <p:cNvPicPr preferRelativeResize="0"/>
          <p:nvPr/>
        </p:nvPicPr>
        <p:blipFill rotWithShape="1">
          <a:blip r:embed="rId2">
            <a:alphaModFix/>
          </a:blip>
          <a:srcRect b="-1905" l="0" r="-160" t="0"/>
          <a:stretch/>
        </p:blipFill>
        <p:spPr>
          <a:xfrm>
            <a:off x="6585599" y="4296761"/>
            <a:ext cx="1769928" cy="6569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pennwatermark.pdf" id="94" name="Google Shape;94;p18"/>
          <p:cNvPicPr preferRelativeResize="0"/>
          <p:nvPr/>
        </p:nvPicPr>
        <p:blipFill rotWithShape="1">
          <a:blip r:embed="rId3">
            <a:alphaModFix amt="6000"/>
          </a:blip>
          <a:srcRect b="0" l="0" r="0" t="0"/>
          <a:stretch/>
        </p:blipFill>
        <p:spPr>
          <a:xfrm>
            <a:off x="199388" y="136510"/>
            <a:ext cx="3080815" cy="347288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>
            <p:ph type="ctrTitle"/>
          </p:nvPr>
        </p:nvSpPr>
        <p:spPr>
          <a:xfrm>
            <a:off x="958151" y="1073526"/>
            <a:ext cx="7397100" cy="174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" type="subTitle"/>
          </p:nvPr>
        </p:nvSpPr>
        <p:spPr>
          <a:xfrm>
            <a:off x="958151" y="3255792"/>
            <a:ext cx="7397100" cy="6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94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94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94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94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9pPr>
          </a:lstStyle>
          <a:p/>
        </p:txBody>
      </p:sp>
      <p:grpSp>
        <p:nvGrpSpPr>
          <p:cNvPr id="97" name="Google Shape;97;p18"/>
          <p:cNvGrpSpPr/>
          <p:nvPr/>
        </p:nvGrpSpPr>
        <p:grpSpPr>
          <a:xfrm rot="10800000">
            <a:off x="194" y="3001129"/>
            <a:ext cx="8355349" cy="57462"/>
            <a:chOff x="685800" y="1794746"/>
            <a:chExt cx="7772418" cy="179400"/>
          </a:xfrm>
        </p:grpSpPr>
        <p:sp>
          <p:nvSpPr>
            <p:cNvPr id="98" name="Google Shape;98;p18"/>
            <p:cNvSpPr/>
            <p:nvPr/>
          </p:nvSpPr>
          <p:spPr>
            <a:xfrm>
              <a:off x="685800" y="1794746"/>
              <a:ext cx="1170900" cy="17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9" name="Google Shape;99;p18"/>
            <p:cNvSpPr/>
            <p:nvPr/>
          </p:nvSpPr>
          <p:spPr>
            <a:xfrm>
              <a:off x="1856619" y="1794746"/>
              <a:ext cx="2206500" cy="17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0" name="Google Shape;100;p18"/>
            <p:cNvSpPr/>
            <p:nvPr/>
          </p:nvSpPr>
          <p:spPr>
            <a:xfrm>
              <a:off x="4063218" y="1794746"/>
              <a:ext cx="4395000" cy="17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01" name="Google Shape;101;p18"/>
          <p:cNvSpPr/>
          <p:nvPr/>
        </p:nvSpPr>
        <p:spPr>
          <a:xfrm>
            <a:off x="254010" y="4572000"/>
            <a:ext cx="224370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 type="obj">
  <p:cSld name="OBJEC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ennwatermark.pdf" id="103" name="Google Shape;103;p19"/>
          <p:cNvPicPr preferRelativeResize="0"/>
          <p:nvPr/>
        </p:nvPicPr>
        <p:blipFill rotWithShape="1">
          <a:blip r:embed="rId2">
            <a:alphaModFix amt="6000"/>
          </a:blip>
          <a:srcRect b="0" l="0" r="0" t="0"/>
          <a:stretch/>
        </p:blipFill>
        <p:spPr>
          <a:xfrm>
            <a:off x="199388" y="105531"/>
            <a:ext cx="3336155" cy="374596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430464" y="902369"/>
            <a:ext cx="8229600" cy="3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7" name="Google Shape;107;p19"/>
          <p:cNvGrpSpPr/>
          <p:nvPr/>
        </p:nvGrpSpPr>
        <p:grpSpPr>
          <a:xfrm>
            <a:off x="-5079" y="708812"/>
            <a:ext cx="8691895" cy="47487"/>
            <a:chOff x="685800" y="1794746"/>
            <a:chExt cx="7772418" cy="179400"/>
          </a:xfrm>
        </p:grpSpPr>
        <p:sp>
          <p:nvSpPr>
            <p:cNvPr id="108" name="Google Shape;108;p19"/>
            <p:cNvSpPr/>
            <p:nvPr/>
          </p:nvSpPr>
          <p:spPr>
            <a:xfrm>
              <a:off x="685800" y="1794746"/>
              <a:ext cx="1170900" cy="17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9" name="Google Shape;109;p19"/>
            <p:cNvSpPr/>
            <p:nvPr/>
          </p:nvSpPr>
          <p:spPr>
            <a:xfrm>
              <a:off x="1856619" y="1794746"/>
              <a:ext cx="2206500" cy="17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0" name="Google Shape;110;p19"/>
            <p:cNvSpPr/>
            <p:nvPr/>
          </p:nvSpPr>
          <p:spPr>
            <a:xfrm>
              <a:off x="4063218" y="1794746"/>
              <a:ext cx="4395000" cy="17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/>
          <p:nvPr>
            <p:ph idx="2" type="pic"/>
          </p:nvPr>
        </p:nvSpPr>
        <p:spPr>
          <a:xfrm>
            <a:off x="4811889" y="1066670"/>
            <a:ext cx="3874800" cy="35280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457200" y="1066669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20"/>
          <p:cNvSpPr txBox="1"/>
          <p:nvPr>
            <p:ph idx="3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5" name="Google Shape;115;p20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20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7" name="Google Shape;117;p20"/>
          <p:cNvGrpSpPr/>
          <p:nvPr/>
        </p:nvGrpSpPr>
        <p:grpSpPr>
          <a:xfrm>
            <a:off x="-5079" y="708812"/>
            <a:ext cx="8691895" cy="47487"/>
            <a:chOff x="685800" y="1794746"/>
            <a:chExt cx="7772418" cy="179400"/>
          </a:xfrm>
        </p:grpSpPr>
        <p:sp>
          <p:nvSpPr>
            <p:cNvPr id="118" name="Google Shape;118;p20"/>
            <p:cNvSpPr/>
            <p:nvPr/>
          </p:nvSpPr>
          <p:spPr>
            <a:xfrm>
              <a:off x="685800" y="1794746"/>
              <a:ext cx="1170900" cy="17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9" name="Google Shape;119;p20"/>
            <p:cNvSpPr/>
            <p:nvPr/>
          </p:nvSpPr>
          <p:spPr>
            <a:xfrm>
              <a:off x="1856619" y="1794746"/>
              <a:ext cx="2206500" cy="17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0" name="Google Shape;120;p20"/>
            <p:cNvSpPr/>
            <p:nvPr/>
          </p:nvSpPr>
          <p:spPr>
            <a:xfrm>
              <a:off x="4063218" y="1794746"/>
              <a:ext cx="4395000" cy="17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omparison">
  <p:cSld name="4_Comparison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ennwatermark.pdf" id="122" name="Google Shape;122;p21"/>
          <p:cNvPicPr preferRelativeResize="0"/>
          <p:nvPr/>
        </p:nvPicPr>
        <p:blipFill rotWithShape="1">
          <a:blip r:embed="rId2">
            <a:alphaModFix amt="6000"/>
          </a:blip>
          <a:srcRect b="0" l="0" r="0" t="0"/>
          <a:stretch/>
        </p:blipFill>
        <p:spPr>
          <a:xfrm>
            <a:off x="199388" y="105531"/>
            <a:ext cx="3338897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/>
          <p:nvPr>
            <p:ph idx="2" type="pic"/>
          </p:nvPr>
        </p:nvSpPr>
        <p:spPr>
          <a:xfrm>
            <a:off x="4811889" y="1066670"/>
            <a:ext cx="3874800" cy="352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57200" y="1066669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5" name="Google Shape;125;p21"/>
          <p:cNvSpPr txBox="1"/>
          <p:nvPr>
            <p:ph idx="3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6" name="Google Shape;126;p21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28" name="Google Shape;128;p21"/>
          <p:cNvGrpSpPr/>
          <p:nvPr/>
        </p:nvGrpSpPr>
        <p:grpSpPr>
          <a:xfrm>
            <a:off x="-5079" y="708812"/>
            <a:ext cx="8691895" cy="47487"/>
            <a:chOff x="685800" y="1794746"/>
            <a:chExt cx="7772418" cy="179400"/>
          </a:xfrm>
        </p:grpSpPr>
        <p:sp>
          <p:nvSpPr>
            <p:cNvPr id="129" name="Google Shape;129;p21"/>
            <p:cNvSpPr/>
            <p:nvPr/>
          </p:nvSpPr>
          <p:spPr>
            <a:xfrm>
              <a:off x="685800" y="1794746"/>
              <a:ext cx="1170900" cy="17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0" name="Google Shape;130;p21"/>
            <p:cNvSpPr/>
            <p:nvPr/>
          </p:nvSpPr>
          <p:spPr>
            <a:xfrm>
              <a:off x="1856619" y="1794746"/>
              <a:ext cx="2206500" cy="17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1" name="Google Shape;131;p21"/>
            <p:cNvSpPr/>
            <p:nvPr/>
          </p:nvSpPr>
          <p:spPr>
            <a:xfrm>
              <a:off x="4063218" y="1794746"/>
              <a:ext cx="4395000" cy="17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457200" y="1104904"/>
            <a:ext cx="4038600" cy="3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4" name="Google Shape;134;p22"/>
          <p:cNvSpPr txBox="1"/>
          <p:nvPr>
            <p:ph idx="2" type="body"/>
          </p:nvPr>
        </p:nvSpPr>
        <p:spPr>
          <a:xfrm>
            <a:off x="4648200" y="1104902"/>
            <a:ext cx="4038600" cy="3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5" name="Google Shape;135;p22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2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7" name="Google Shape;137;p22"/>
          <p:cNvGrpSpPr/>
          <p:nvPr/>
        </p:nvGrpSpPr>
        <p:grpSpPr>
          <a:xfrm>
            <a:off x="-5079" y="708812"/>
            <a:ext cx="8691895" cy="47487"/>
            <a:chOff x="685800" y="1794746"/>
            <a:chExt cx="7772418" cy="179400"/>
          </a:xfrm>
        </p:grpSpPr>
        <p:sp>
          <p:nvSpPr>
            <p:cNvPr id="138" name="Google Shape;138;p22"/>
            <p:cNvSpPr/>
            <p:nvPr/>
          </p:nvSpPr>
          <p:spPr>
            <a:xfrm>
              <a:off x="685800" y="1794746"/>
              <a:ext cx="1170900" cy="17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9" name="Google Shape;139;p22"/>
            <p:cNvSpPr/>
            <p:nvPr/>
          </p:nvSpPr>
          <p:spPr>
            <a:xfrm>
              <a:off x="1856619" y="1794746"/>
              <a:ext cx="2206500" cy="17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22"/>
            <p:cNvSpPr/>
            <p:nvPr/>
          </p:nvSpPr>
          <p:spPr>
            <a:xfrm>
              <a:off x="4063218" y="1794746"/>
              <a:ext cx="4395000" cy="17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457200" y="1067992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3" name="Google Shape;143;p23"/>
          <p:cNvSpPr txBox="1"/>
          <p:nvPr>
            <p:ph idx="2" type="body"/>
          </p:nvPr>
        </p:nvSpPr>
        <p:spPr>
          <a:xfrm>
            <a:off x="457200" y="1546495"/>
            <a:ext cx="40401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44" name="Google Shape;144;p23"/>
          <p:cNvSpPr txBox="1"/>
          <p:nvPr>
            <p:ph idx="3" type="body"/>
          </p:nvPr>
        </p:nvSpPr>
        <p:spPr>
          <a:xfrm>
            <a:off x="4645033" y="1066669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5" name="Google Shape;145;p23"/>
          <p:cNvSpPr txBox="1"/>
          <p:nvPr>
            <p:ph idx="4" type="body"/>
          </p:nvPr>
        </p:nvSpPr>
        <p:spPr>
          <a:xfrm>
            <a:off x="4645033" y="1546495"/>
            <a:ext cx="4041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46" name="Google Shape;146;p23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23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8" name="Google Shape;148;p23"/>
          <p:cNvGrpSpPr/>
          <p:nvPr/>
        </p:nvGrpSpPr>
        <p:grpSpPr>
          <a:xfrm>
            <a:off x="-5079" y="708812"/>
            <a:ext cx="8691895" cy="47487"/>
            <a:chOff x="685800" y="1794746"/>
            <a:chExt cx="7772418" cy="179400"/>
          </a:xfrm>
        </p:grpSpPr>
        <p:sp>
          <p:nvSpPr>
            <p:cNvPr id="149" name="Google Shape;149;p23"/>
            <p:cNvSpPr/>
            <p:nvPr/>
          </p:nvSpPr>
          <p:spPr>
            <a:xfrm>
              <a:off x="685800" y="1794746"/>
              <a:ext cx="1170900" cy="17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0" name="Google Shape;150;p23"/>
            <p:cNvSpPr/>
            <p:nvPr/>
          </p:nvSpPr>
          <p:spPr>
            <a:xfrm>
              <a:off x="1856619" y="1794746"/>
              <a:ext cx="2206500" cy="17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1" name="Google Shape;151;p23"/>
            <p:cNvSpPr/>
            <p:nvPr/>
          </p:nvSpPr>
          <p:spPr>
            <a:xfrm>
              <a:off x="4063218" y="1794746"/>
              <a:ext cx="4395000" cy="17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sidebar">
  <p:cSld name="Content and sidebar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6142182" y="1782939"/>
            <a:ext cx="25446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4" name="Google Shape;154;p24"/>
          <p:cNvSpPr txBox="1"/>
          <p:nvPr>
            <p:ph idx="2" type="body"/>
          </p:nvPr>
        </p:nvSpPr>
        <p:spPr>
          <a:xfrm>
            <a:off x="6142182" y="2310651"/>
            <a:ext cx="2544600" cy="22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5" name="Google Shape;155;p24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6" name="Google Shape;156;p24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7" name="Google Shape;157;p24"/>
          <p:cNvGrpSpPr/>
          <p:nvPr/>
        </p:nvGrpSpPr>
        <p:grpSpPr>
          <a:xfrm>
            <a:off x="-5079" y="708812"/>
            <a:ext cx="8691895" cy="47487"/>
            <a:chOff x="685800" y="1794746"/>
            <a:chExt cx="7772418" cy="179400"/>
          </a:xfrm>
        </p:grpSpPr>
        <p:sp>
          <p:nvSpPr>
            <p:cNvPr id="158" name="Google Shape;158;p24"/>
            <p:cNvSpPr/>
            <p:nvPr/>
          </p:nvSpPr>
          <p:spPr>
            <a:xfrm>
              <a:off x="685800" y="1794746"/>
              <a:ext cx="1170900" cy="17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9" name="Google Shape;159;p24"/>
            <p:cNvSpPr/>
            <p:nvPr/>
          </p:nvSpPr>
          <p:spPr>
            <a:xfrm>
              <a:off x="1856619" y="1794746"/>
              <a:ext cx="2206500" cy="17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0" name="Google Shape;160;p24"/>
            <p:cNvSpPr/>
            <p:nvPr/>
          </p:nvSpPr>
          <p:spPr>
            <a:xfrm>
              <a:off x="4063218" y="1794746"/>
              <a:ext cx="4395000" cy="17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cxnSp>
        <p:nvCxnSpPr>
          <p:cNvPr id="161" name="Google Shape;161;p24"/>
          <p:cNvCxnSpPr/>
          <p:nvPr/>
        </p:nvCxnSpPr>
        <p:spPr>
          <a:xfrm>
            <a:off x="5908842" y="1099992"/>
            <a:ext cx="0" cy="35991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24"/>
          <p:cNvSpPr txBox="1"/>
          <p:nvPr>
            <p:ph idx="3" type="body"/>
          </p:nvPr>
        </p:nvSpPr>
        <p:spPr>
          <a:xfrm>
            <a:off x="310162" y="1485154"/>
            <a:ext cx="529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3" name="Google Shape;163;p24"/>
          <p:cNvSpPr txBox="1"/>
          <p:nvPr>
            <p:ph idx="4" type="body"/>
          </p:nvPr>
        </p:nvSpPr>
        <p:spPr>
          <a:xfrm>
            <a:off x="310162" y="1808344"/>
            <a:ext cx="529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sz="1400">
                <a:solidFill>
                  <a:schemeClr val="dk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4" name="Google Shape;164;p24"/>
          <p:cNvSpPr txBox="1"/>
          <p:nvPr>
            <p:ph idx="5" type="body"/>
          </p:nvPr>
        </p:nvSpPr>
        <p:spPr>
          <a:xfrm>
            <a:off x="310162" y="2353694"/>
            <a:ext cx="529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5" name="Google Shape;165;p24"/>
          <p:cNvSpPr txBox="1"/>
          <p:nvPr>
            <p:ph idx="6" type="body"/>
          </p:nvPr>
        </p:nvSpPr>
        <p:spPr>
          <a:xfrm>
            <a:off x="310162" y="2676884"/>
            <a:ext cx="529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sz="1400">
                <a:solidFill>
                  <a:schemeClr val="dk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6" name="Google Shape;166;p24"/>
          <p:cNvSpPr txBox="1"/>
          <p:nvPr>
            <p:ph idx="7" type="body"/>
          </p:nvPr>
        </p:nvSpPr>
        <p:spPr>
          <a:xfrm>
            <a:off x="310162" y="3191895"/>
            <a:ext cx="529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7" name="Google Shape;167;p24"/>
          <p:cNvSpPr txBox="1"/>
          <p:nvPr>
            <p:ph idx="8" type="body"/>
          </p:nvPr>
        </p:nvSpPr>
        <p:spPr>
          <a:xfrm>
            <a:off x="310162" y="3515084"/>
            <a:ext cx="529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sz="1400">
                <a:solidFill>
                  <a:schemeClr val="dk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8" name="Google Shape;168;p24"/>
          <p:cNvSpPr txBox="1"/>
          <p:nvPr>
            <p:ph idx="9" type="body"/>
          </p:nvPr>
        </p:nvSpPr>
        <p:spPr>
          <a:xfrm>
            <a:off x="309033" y="965872"/>
            <a:ext cx="5295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>
                <a:solidFill>
                  <a:srgbClr val="00144D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">
  <p:cSld name="Metrics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25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2" name="Google Shape;172;p25"/>
          <p:cNvGrpSpPr/>
          <p:nvPr/>
        </p:nvGrpSpPr>
        <p:grpSpPr>
          <a:xfrm>
            <a:off x="-5079" y="708812"/>
            <a:ext cx="8691895" cy="47487"/>
            <a:chOff x="685800" y="1794746"/>
            <a:chExt cx="7772418" cy="179400"/>
          </a:xfrm>
        </p:grpSpPr>
        <p:sp>
          <p:nvSpPr>
            <p:cNvPr id="173" name="Google Shape;173;p25"/>
            <p:cNvSpPr/>
            <p:nvPr/>
          </p:nvSpPr>
          <p:spPr>
            <a:xfrm>
              <a:off x="685800" y="1794746"/>
              <a:ext cx="1170900" cy="17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4" name="Google Shape;174;p25"/>
            <p:cNvSpPr/>
            <p:nvPr/>
          </p:nvSpPr>
          <p:spPr>
            <a:xfrm>
              <a:off x="1856619" y="1794746"/>
              <a:ext cx="2206500" cy="17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5" name="Google Shape;175;p25"/>
            <p:cNvSpPr/>
            <p:nvPr/>
          </p:nvSpPr>
          <p:spPr>
            <a:xfrm>
              <a:off x="4063218" y="1794746"/>
              <a:ext cx="4395000" cy="17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76" name="Google Shape;176;p25"/>
          <p:cNvSpPr/>
          <p:nvPr/>
        </p:nvSpPr>
        <p:spPr>
          <a:xfrm>
            <a:off x="457210" y="1110136"/>
            <a:ext cx="2198400" cy="1029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457209" y="1110132"/>
            <a:ext cx="2198400" cy="4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78" name="Google Shape;178;p25"/>
          <p:cNvGrpSpPr/>
          <p:nvPr/>
        </p:nvGrpSpPr>
        <p:grpSpPr>
          <a:xfrm>
            <a:off x="457198" y="2210972"/>
            <a:ext cx="3035401" cy="1029825"/>
            <a:chOff x="457198" y="2913323"/>
            <a:chExt cx="3035401" cy="1373100"/>
          </a:xfrm>
        </p:grpSpPr>
        <p:sp>
          <p:nvSpPr>
            <p:cNvPr id="179" name="Google Shape;179;p25"/>
            <p:cNvSpPr/>
            <p:nvPr/>
          </p:nvSpPr>
          <p:spPr>
            <a:xfrm>
              <a:off x="457199" y="2913323"/>
              <a:ext cx="3035400" cy="1373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80" name="Google Shape;180;p25"/>
            <p:cNvSpPr/>
            <p:nvPr/>
          </p:nvSpPr>
          <p:spPr>
            <a:xfrm>
              <a:off x="457198" y="2913323"/>
              <a:ext cx="3035400" cy="63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81" name="Google Shape;181;p25"/>
          <p:cNvGrpSpPr/>
          <p:nvPr/>
        </p:nvGrpSpPr>
        <p:grpSpPr>
          <a:xfrm>
            <a:off x="457199" y="3303509"/>
            <a:ext cx="8181900" cy="1029825"/>
            <a:chOff x="457199" y="4370039"/>
            <a:chExt cx="8181900" cy="1373100"/>
          </a:xfrm>
        </p:grpSpPr>
        <p:sp>
          <p:nvSpPr>
            <p:cNvPr id="182" name="Google Shape;182;p25"/>
            <p:cNvSpPr/>
            <p:nvPr/>
          </p:nvSpPr>
          <p:spPr>
            <a:xfrm>
              <a:off x="457199" y="4370039"/>
              <a:ext cx="8181900" cy="1373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83" name="Google Shape;183;p25"/>
            <p:cNvSpPr/>
            <p:nvPr/>
          </p:nvSpPr>
          <p:spPr>
            <a:xfrm>
              <a:off x="457199" y="4370039"/>
              <a:ext cx="8181900" cy="63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84" name="Google Shape;184;p25"/>
          <p:cNvGrpSpPr/>
          <p:nvPr/>
        </p:nvGrpSpPr>
        <p:grpSpPr>
          <a:xfrm>
            <a:off x="2746375" y="1110136"/>
            <a:ext cx="2762400" cy="1029825"/>
            <a:chOff x="2746375" y="1480176"/>
            <a:chExt cx="2762400" cy="1373100"/>
          </a:xfrm>
        </p:grpSpPr>
        <p:sp>
          <p:nvSpPr>
            <p:cNvPr id="185" name="Google Shape;185;p25"/>
            <p:cNvSpPr/>
            <p:nvPr/>
          </p:nvSpPr>
          <p:spPr>
            <a:xfrm>
              <a:off x="2746375" y="1480176"/>
              <a:ext cx="2762400" cy="1373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86" name="Google Shape;186;p25"/>
            <p:cNvSpPr/>
            <p:nvPr/>
          </p:nvSpPr>
          <p:spPr>
            <a:xfrm>
              <a:off x="2746375" y="1480176"/>
              <a:ext cx="2762400" cy="63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87" name="Google Shape;187;p25"/>
          <p:cNvGrpSpPr/>
          <p:nvPr/>
        </p:nvGrpSpPr>
        <p:grpSpPr>
          <a:xfrm>
            <a:off x="5611034" y="1110136"/>
            <a:ext cx="3027927" cy="1029825"/>
            <a:chOff x="5556249" y="1480176"/>
            <a:chExt cx="3082801" cy="1373100"/>
          </a:xfrm>
        </p:grpSpPr>
        <p:sp>
          <p:nvSpPr>
            <p:cNvPr id="188" name="Google Shape;188;p25"/>
            <p:cNvSpPr/>
            <p:nvPr/>
          </p:nvSpPr>
          <p:spPr>
            <a:xfrm>
              <a:off x="5556250" y="1480176"/>
              <a:ext cx="3082800" cy="1373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89" name="Google Shape;189;p25"/>
            <p:cNvSpPr/>
            <p:nvPr/>
          </p:nvSpPr>
          <p:spPr>
            <a:xfrm>
              <a:off x="5556249" y="1480176"/>
              <a:ext cx="3082800" cy="63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90" name="Google Shape;190;p25"/>
          <p:cNvGrpSpPr/>
          <p:nvPr/>
        </p:nvGrpSpPr>
        <p:grpSpPr>
          <a:xfrm>
            <a:off x="3582582" y="2210972"/>
            <a:ext cx="5056259" cy="1029825"/>
            <a:chOff x="3556000" y="2913323"/>
            <a:chExt cx="5083200" cy="1373100"/>
          </a:xfrm>
        </p:grpSpPr>
        <p:sp>
          <p:nvSpPr>
            <p:cNvPr id="191" name="Google Shape;191;p25"/>
            <p:cNvSpPr/>
            <p:nvPr/>
          </p:nvSpPr>
          <p:spPr>
            <a:xfrm>
              <a:off x="3556000" y="2913323"/>
              <a:ext cx="5083200" cy="1373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92" name="Google Shape;192;p25"/>
            <p:cNvSpPr/>
            <p:nvPr/>
          </p:nvSpPr>
          <p:spPr>
            <a:xfrm>
              <a:off x="3556000" y="2913323"/>
              <a:ext cx="5083200" cy="63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457201" y="1197944"/>
            <a:ext cx="2198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4" name="Google Shape;194;p25"/>
          <p:cNvSpPr txBox="1"/>
          <p:nvPr>
            <p:ph idx="2" type="body"/>
          </p:nvPr>
        </p:nvSpPr>
        <p:spPr>
          <a:xfrm>
            <a:off x="457210" y="1775180"/>
            <a:ext cx="2198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5" name="Google Shape;195;p25"/>
          <p:cNvSpPr txBox="1"/>
          <p:nvPr>
            <p:ph idx="3" type="body"/>
          </p:nvPr>
        </p:nvSpPr>
        <p:spPr>
          <a:xfrm>
            <a:off x="2746376" y="1197944"/>
            <a:ext cx="2762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6" name="Google Shape;196;p25"/>
          <p:cNvSpPr txBox="1"/>
          <p:nvPr>
            <p:ph idx="4" type="body"/>
          </p:nvPr>
        </p:nvSpPr>
        <p:spPr>
          <a:xfrm>
            <a:off x="2746378" y="1775180"/>
            <a:ext cx="2762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7" name="Google Shape;197;p25"/>
          <p:cNvSpPr txBox="1"/>
          <p:nvPr>
            <p:ph idx="5" type="body"/>
          </p:nvPr>
        </p:nvSpPr>
        <p:spPr>
          <a:xfrm>
            <a:off x="5611093" y="1197944"/>
            <a:ext cx="3028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8" name="Google Shape;198;p25"/>
          <p:cNvSpPr txBox="1"/>
          <p:nvPr>
            <p:ph idx="6" type="body"/>
          </p:nvPr>
        </p:nvSpPr>
        <p:spPr>
          <a:xfrm>
            <a:off x="5611099" y="1775180"/>
            <a:ext cx="3028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9" name="Google Shape;199;p25"/>
          <p:cNvSpPr txBox="1"/>
          <p:nvPr>
            <p:ph idx="7" type="body"/>
          </p:nvPr>
        </p:nvSpPr>
        <p:spPr>
          <a:xfrm>
            <a:off x="3582731" y="2283875"/>
            <a:ext cx="5056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dk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00" name="Google Shape;200;p25"/>
          <p:cNvSpPr txBox="1"/>
          <p:nvPr>
            <p:ph idx="8" type="body"/>
          </p:nvPr>
        </p:nvSpPr>
        <p:spPr>
          <a:xfrm>
            <a:off x="3582730" y="2861109"/>
            <a:ext cx="5056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dk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01" name="Google Shape;201;p25"/>
          <p:cNvSpPr txBox="1"/>
          <p:nvPr>
            <p:ph idx="9" type="body"/>
          </p:nvPr>
        </p:nvSpPr>
        <p:spPr>
          <a:xfrm>
            <a:off x="457200" y="2283875"/>
            <a:ext cx="3035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dk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02" name="Google Shape;202;p25"/>
          <p:cNvSpPr txBox="1"/>
          <p:nvPr>
            <p:ph idx="13" type="body"/>
          </p:nvPr>
        </p:nvSpPr>
        <p:spPr>
          <a:xfrm>
            <a:off x="457206" y="2861109"/>
            <a:ext cx="3035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dk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03" name="Google Shape;203;p25"/>
          <p:cNvSpPr txBox="1"/>
          <p:nvPr>
            <p:ph idx="14" type="body"/>
          </p:nvPr>
        </p:nvSpPr>
        <p:spPr>
          <a:xfrm>
            <a:off x="457201" y="3385708"/>
            <a:ext cx="8181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lt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04" name="Google Shape;204;p25"/>
          <p:cNvSpPr txBox="1"/>
          <p:nvPr>
            <p:ph idx="15" type="body"/>
          </p:nvPr>
        </p:nvSpPr>
        <p:spPr>
          <a:xfrm>
            <a:off x="457197" y="3962944"/>
            <a:ext cx="8181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lt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n Diagram">
  <p:cSld name="Venn Diagram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/>
          <p:nvPr/>
        </p:nvSpPr>
        <p:spPr>
          <a:xfrm>
            <a:off x="1602040" y="1009064"/>
            <a:ext cx="3742800" cy="374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7"/>
          <p:cNvSpPr/>
          <p:nvPr/>
        </p:nvSpPr>
        <p:spPr>
          <a:xfrm>
            <a:off x="3764025" y="997539"/>
            <a:ext cx="3742800" cy="3742800"/>
          </a:xfrm>
          <a:prstGeom prst="ellipse">
            <a:avLst/>
          </a:prstGeom>
          <a:solidFill>
            <a:schemeClr val="accent3">
              <a:alpha val="6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7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7"/>
          <p:cNvSpPr txBox="1"/>
          <p:nvPr>
            <p:ph type="title"/>
          </p:nvPr>
        </p:nvSpPr>
        <p:spPr>
          <a:xfrm>
            <a:off x="1622280" y="2589950"/>
            <a:ext cx="19476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12" name="Google Shape;212;p27"/>
          <p:cNvGrpSpPr/>
          <p:nvPr/>
        </p:nvGrpSpPr>
        <p:grpSpPr>
          <a:xfrm>
            <a:off x="-5079" y="708812"/>
            <a:ext cx="8691895" cy="47487"/>
            <a:chOff x="685800" y="1794746"/>
            <a:chExt cx="7772418" cy="179400"/>
          </a:xfrm>
        </p:grpSpPr>
        <p:sp>
          <p:nvSpPr>
            <p:cNvPr id="213" name="Google Shape;213;p27"/>
            <p:cNvSpPr/>
            <p:nvPr/>
          </p:nvSpPr>
          <p:spPr>
            <a:xfrm>
              <a:off x="685800" y="1794746"/>
              <a:ext cx="1170900" cy="17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4" name="Google Shape;214;p27"/>
            <p:cNvSpPr/>
            <p:nvPr/>
          </p:nvSpPr>
          <p:spPr>
            <a:xfrm>
              <a:off x="1856619" y="1794746"/>
              <a:ext cx="2206500" cy="17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4063218" y="1794746"/>
              <a:ext cx="4395000" cy="17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216" name="Google Shape;216;p27"/>
          <p:cNvSpPr txBox="1"/>
          <p:nvPr>
            <p:ph idx="1" type="body"/>
          </p:nvPr>
        </p:nvSpPr>
        <p:spPr>
          <a:xfrm>
            <a:off x="310162" y="0"/>
            <a:ext cx="79866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2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" name="Google Shape;217;p27"/>
          <p:cNvSpPr txBox="1"/>
          <p:nvPr>
            <p:ph idx="2" type="body"/>
          </p:nvPr>
        </p:nvSpPr>
        <p:spPr>
          <a:xfrm>
            <a:off x="3569790" y="2589610"/>
            <a:ext cx="19686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8" name="Google Shape;218;p27"/>
          <p:cNvSpPr txBox="1"/>
          <p:nvPr>
            <p:ph idx="3" type="body"/>
          </p:nvPr>
        </p:nvSpPr>
        <p:spPr>
          <a:xfrm>
            <a:off x="5538290" y="2589610"/>
            <a:ext cx="19686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/>
          <p:nvPr/>
        </p:nvSpPr>
        <p:spPr>
          <a:xfrm>
            <a:off x="239899" y="4582584"/>
            <a:ext cx="2229600" cy="39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1" name="Google Shape;221;p28"/>
          <p:cNvSpPr/>
          <p:nvPr>
            <p:ph idx="2" type="pic"/>
          </p:nvPr>
        </p:nvSpPr>
        <p:spPr>
          <a:xfrm>
            <a:off x="-15075" y="0"/>
            <a:ext cx="9186300" cy="41859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28"/>
          <p:cNvSpPr/>
          <p:nvPr/>
        </p:nvSpPr>
        <p:spPr>
          <a:xfrm>
            <a:off x="-42334" y="4233334"/>
            <a:ext cx="9242700" cy="916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3" name="Google Shape;223;p28"/>
          <p:cNvSpPr txBox="1"/>
          <p:nvPr>
            <p:ph idx="1" type="body"/>
          </p:nvPr>
        </p:nvSpPr>
        <p:spPr>
          <a:xfrm>
            <a:off x="465844" y="4471120"/>
            <a:ext cx="58137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24" name="Google Shape;224;p28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25" name="Google Shape;225;p28"/>
          <p:cNvGrpSpPr/>
          <p:nvPr/>
        </p:nvGrpSpPr>
        <p:grpSpPr>
          <a:xfrm>
            <a:off x="-42331" y="4185826"/>
            <a:ext cx="9203320" cy="47487"/>
            <a:chOff x="685800" y="1794746"/>
            <a:chExt cx="7772418" cy="179400"/>
          </a:xfrm>
        </p:grpSpPr>
        <p:sp>
          <p:nvSpPr>
            <p:cNvPr id="226" name="Google Shape;226;p28"/>
            <p:cNvSpPr/>
            <p:nvPr/>
          </p:nvSpPr>
          <p:spPr>
            <a:xfrm>
              <a:off x="685800" y="1794746"/>
              <a:ext cx="1170900" cy="17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27" name="Google Shape;227;p28"/>
            <p:cNvSpPr/>
            <p:nvPr/>
          </p:nvSpPr>
          <p:spPr>
            <a:xfrm>
              <a:off x="1856619" y="1794746"/>
              <a:ext cx="2206500" cy="17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28" name="Google Shape;228;p28"/>
            <p:cNvSpPr/>
            <p:nvPr/>
          </p:nvSpPr>
          <p:spPr>
            <a:xfrm>
              <a:off x="4063218" y="1794746"/>
              <a:ext cx="4395000" cy="17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/>
          <p:nvPr/>
        </p:nvSpPr>
        <p:spPr>
          <a:xfrm>
            <a:off x="312469" y="4593469"/>
            <a:ext cx="2229600" cy="52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1" name="Google Shape;231;p29"/>
          <p:cNvSpPr/>
          <p:nvPr>
            <p:ph idx="2" type="pic"/>
          </p:nvPr>
        </p:nvSpPr>
        <p:spPr>
          <a:xfrm>
            <a:off x="-14817" y="0"/>
            <a:ext cx="9186300" cy="41859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9"/>
          <p:cNvSpPr txBox="1"/>
          <p:nvPr>
            <p:ph idx="1" type="body"/>
          </p:nvPr>
        </p:nvSpPr>
        <p:spPr>
          <a:xfrm>
            <a:off x="465844" y="4471120"/>
            <a:ext cx="58137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6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3" name="Google Shape;233;p29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4" name="Google Shape;234;p29"/>
          <p:cNvGrpSpPr/>
          <p:nvPr/>
        </p:nvGrpSpPr>
        <p:grpSpPr>
          <a:xfrm>
            <a:off x="-42331" y="4185826"/>
            <a:ext cx="9203320" cy="47487"/>
            <a:chOff x="685800" y="1794746"/>
            <a:chExt cx="7772418" cy="179400"/>
          </a:xfrm>
        </p:grpSpPr>
        <p:sp>
          <p:nvSpPr>
            <p:cNvPr id="235" name="Google Shape;235;p29"/>
            <p:cNvSpPr/>
            <p:nvPr/>
          </p:nvSpPr>
          <p:spPr>
            <a:xfrm>
              <a:off x="685800" y="1794746"/>
              <a:ext cx="1170900" cy="17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6" name="Google Shape;236;p29"/>
            <p:cNvSpPr/>
            <p:nvPr/>
          </p:nvSpPr>
          <p:spPr>
            <a:xfrm>
              <a:off x="1856619" y="1794746"/>
              <a:ext cx="2206500" cy="17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7" name="Google Shape;237;p29"/>
            <p:cNvSpPr/>
            <p:nvPr/>
          </p:nvSpPr>
          <p:spPr>
            <a:xfrm>
              <a:off x="4063218" y="1794746"/>
              <a:ext cx="4395000" cy="17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icture with Caption">
  <p:cSld name="2_Picture with Caption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/>
          <p:nvPr/>
        </p:nvSpPr>
        <p:spPr>
          <a:xfrm>
            <a:off x="363798" y="4553643"/>
            <a:ext cx="2229600" cy="58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0" name="Google Shape;240;p30"/>
          <p:cNvSpPr/>
          <p:nvPr>
            <p:ph idx="2" type="pic"/>
          </p:nvPr>
        </p:nvSpPr>
        <p:spPr>
          <a:xfrm>
            <a:off x="-25400" y="1011586"/>
            <a:ext cx="9186300" cy="41382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0"/>
          <p:cNvSpPr/>
          <p:nvPr/>
        </p:nvSpPr>
        <p:spPr>
          <a:xfrm>
            <a:off x="-21167" y="-3292"/>
            <a:ext cx="9178800" cy="96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2" name="Google Shape;242;p30"/>
          <p:cNvSpPr txBox="1"/>
          <p:nvPr>
            <p:ph idx="1" type="body"/>
          </p:nvPr>
        </p:nvSpPr>
        <p:spPr>
          <a:xfrm>
            <a:off x="465844" y="231435"/>
            <a:ext cx="82209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43" name="Google Shape;243;p30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44" name="Google Shape;244;p30"/>
          <p:cNvGrpSpPr/>
          <p:nvPr/>
        </p:nvGrpSpPr>
        <p:grpSpPr>
          <a:xfrm>
            <a:off x="-21145" y="964078"/>
            <a:ext cx="9176117" cy="47487"/>
            <a:chOff x="685800" y="1794746"/>
            <a:chExt cx="7772418" cy="179400"/>
          </a:xfrm>
        </p:grpSpPr>
        <p:sp>
          <p:nvSpPr>
            <p:cNvPr id="245" name="Google Shape;245;p30"/>
            <p:cNvSpPr/>
            <p:nvPr/>
          </p:nvSpPr>
          <p:spPr>
            <a:xfrm>
              <a:off x="685800" y="1794746"/>
              <a:ext cx="1170900" cy="17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46" name="Google Shape;246;p30"/>
            <p:cNvSpPr/>
            <p:nvPr/>
          </p:nvSpPr>
          <p:spPr>
            <a:xfrm>
              <a:off x="1856619" y="1794746"/>
              <a:ext cx="2206500" cy="17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47" name="Google Shape;247;p30"/>
            <p:cNvSpPr/>
            <p:nvPr/>
          </p:nvSpPr>
          <p:spPr>
            <a:xfrm>
              <a:off x="4063218" y="1794746"/>
              <a:ext cx="4395000" cy="17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/>
          <p:nvPr>
            <p:ph type="ctrTitle"/>
          </p:nvPr>
        </p:nvSpPr>
        <p:spPr>
          <a:xfrm>
            <a:off x="528066" y="667365"/>
            <a:ext cx="7492181" cy="269895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Open Sans"/>
              <a:buNone/>
              <a:defRPr sz="4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8" name="Google Shape;258;p32"/>
          <p:cNvSpPr txBox="1"/>
          <p:nvPr>
            <p:ph idx="1" type="subTitle"/>
          </p:nvPr>
        </p:nvSpPr>
        <p:spPr>
          <a:xfrm>
            <a:off x="528066" y="3366319"/>
            <a:ext cx="5243832" cy="97708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lvl="1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59" name="Google Shape;259;p32"/>
          <p:cNvSpPr txBox="1"/>
          <p:nvPr>
            <p:ph idx="10" type="dt"/>
          </p:nvPr>
        </p:nvSpPr>
        <p:spPr>
          <a:xfrm>
            <a:off x="6277086" y="4767263"/>
            <a:ext cx="191217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0" name="Google Shape;260;p32"/>
          <p:cNvSpPr txBox="1"/>
          <p:nvPr>
            <p:ph idx="11" type="ftr"/>
          </p:nvPr>
        </p:nvSpPr>
        <p:spPr>
          <a:xfrm>
            <a:off x="528066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1" name="Google Shape;261;p32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19" Type="http://schemas.openxmlformats.org/officeDocument/2006/relationships/theme" Target="../theme/theme4.xml"/><Relationship Id="rId6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-line-bluetext-colorshield.png" id="51" name="Google Shape;5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57200" y="4699003"/>
            <a:ext cx="1809094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30464" y="1029708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81000" lvl="1" marL="9144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556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42900" lvl="3" marL="18288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42900" lvl="4" marL="22860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323520" y="-19089"/>
            <a:ext cx="8229600" cy="7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b="0" i="0" sz="3600" u="none" cap="none" strike="noStrike">
                <a:solidFill>
                  <a:srgbClr val="95001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 txBox="1"/>
          <p:nvPr>
            <p:ph type="title"/>
          </p:nvPr>
        </p:nvSpPr>
        <p:spPr>
          <a:xfrm>
            <a:off x="525476" y="685800"/>
            <a:ext cx="8018449" cy="9806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b="0" i="0" sz="3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50" name="Google Shape;250;p31"/>
          <p:cNvSpPr txBox="1"/>
          <p:nvPr>
            <p:ph idx="1" type="body"/>
          </p:nvPr>
        </p:nvSpPr>
        <p:spPr>
          <a:xfrm>
            <a:off x="525476" y="1666494"/>
            <a:ext cx="8018449" cy="28049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98450" lvl="3" marL="18288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98450" lvl="4" marL="22860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251" name="Google Shape;251;p31"/>
          <p:cNvSpPr txBox="1"/>
          <p:nvPr>
            <p:ph idx="10" type="dt"/>
          </p:nvPr>
        </p:nvSpPr>
        <p:spPr>
          <a:xfrm>
            <a:off x="6277086" y="4767263"/>
            <a:ext cx="191217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252" name="Google Shape;252;p31"/>
          <p:cNvSpPr txBox="1"/>
          <p:nvPr>
            <p:ph idx="11" type="ftr"/>
          </p:nvPr>
        </p:nvSpPr>
        <p:spPr>
          <a:xfrm>
            <a:off x="528066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253" name="Google Shape;253;p31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54" name="Google Shape;254;p31"/>
          <p:cNvCxnSpPr/>
          <p:nvPr/>
        </p:nvCxnSpPr>
        <p:spPr>
          <a:xfrm>
            <a:off x="600075" y="542925"/>
            <a:ext cx="794385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5" name="Google Shape;255;p31"/>
          <p:cNvCxnSpPr/>
          <p:nvPr/>
        </p:nvCxnSpPr>
        <p:spPr>
          <a:xfrm>
            <a:off x="600075" y="4607086"/>
            <a:ext cx="79438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22.png"/><Relationship Id="rId6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 txBox="1"/>
          <p:nvPr>
            <p:ph type="ctrTitle"/>
          </p:nvPr>
        </p:nvSpPr>
        <p:spPr>
          <a:xfrm>
            <a:off x="372576" y="1073525"/>
            <a:ext cx="7982700" cy="174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"/>
              <a:t>Homelumina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b="0" lang="en"/>
              <a:t>Find Your Perfect Place to Call Home</a:t>
            </a:r>
            <a:r>
              <a:rPr lang="en"/>
              <a:t> </a:t>
            </a:r>
            <a:endParaRPr sz="2600"/>
          </a:p>
        </p:txBody>
      </p:sp>
      <p:sp>
        <p:nvSpPr>
          <p:cNvPr id="267" name="Google Shape;267;p33"/>
          <p:cNvSpPr txBox="1"/>
          <p:nvPr>
            <p:ph idx="1" type="subTitle"/>
          </p:nvPr>
        </p:nvSpPr>
        <p:spPr>
          <a:xfrm>
            <a:off x="958151" y="3255792"/>
            <a:ext cx="7397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"/>
              <a:t>Dan Fitz • Filmon Mengisteab • John Suli • Roy Hung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"/>
              <a:t>CIS 550 - Summer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2" name="Google Shape;272;p34"/>
          <p:cNvCxnSpPr/>
          <p:nvPr/>
        </p:nvCxnSpPr>
        <p:spPr>
          <a:xfrm>
            <a:off x="600075" y="542925"/>
            <a:ext cx="794385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" name="Google Shape;273;p34"/>
          <p:cNvCxnSpPr/>
          <p:nvPr/>
        </p:nvCxnSpPr>
        <p:spPr>
          <a:xfrm>
            <a:off x="600075" y="4607086"/>
            <a:ext cx="79438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4" name="Google Shape;274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75" name="Google Shape;275;p34"/>
          <p:cNvSpPr txBox="1"/>
          <p:nvPr/>
        </p:nvSpPr>
        <p:spPr>
          <a:xfrm>
            <a:off x="528078" y="685800"/>
            <a:ext cx="5857200" cy="9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95001A"/>
              </a:buClr>
              <a:buSzPts val="2700"/>
              <a:buFont typeface="Open Sans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PROBLEM &amp; MOTIVATION</a:t>
            </a:r>
            <a:endParaRPr sz="1100"/>
          </a:p>
        </p:txBody>
      </p:sp>
      <p:cxnSp>
        <p:nvCxnSpPr>
          <p:cNvPr id="276" name="Google Shape;276;p34"/>
          <p:cNvCxnSpPr/>
          <p:nvPr/>
        </p:nvCxnSpPr>
        <p:spPr>
          <a:xfrm>
            <a:off x="603504" y="541782"/>
            <a:ext cx="1228725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7" name="Google Shape;277;p34"/>
          <p:cNvSpPr txBox="1"/>
          <p:nvPr/>
        </p:nvSpPr>
        <p:spPr>
          <a:xfrm>
            <a:off x="300038" y="1227492"/>
            <a:ext cx="5455800" cy="3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" sz="1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You want to move to a new place but don’t know where? Some questions you might have:</a:t>
            </a:r>
            <a:endParaRPr b="0" i="0" sz="1500" u="none" cap="none" strike="noStrik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-177800" lvl="1" marL="55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💰 Is it affordable? </a:t>
            </a:r>
            <a:endParaRPr sz="1100"/>
          </a:p>
          <a:p>
            <a:pPr indent="-177800" lvl="1" marL="55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🚓 Is it safe? </a:t>
            </a:r>
            <a:endParaRPr sz="1100"/>
          </a:p>
          <a:p>
            <a:pPr indent="-177800" lvl="1" marL="55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🏥 Is it healthy?</a:t>
            </a:r>
            <a:endParaRPr sz="1100"/>
          </a:p>
          <a:p>
            <a:pPr indent="-177800" lvl="1" marL="55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🧒 Are there good schools and childcare? </a:t>
            </a:r>
            <a:endParaRPr sz="1100"/>
          </a:p>
          <a:p>
            <a:pPr indent="-177800" lvl="1" marL="55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🏞️ What’s the quality of life like?</a:t>
            </a:r>
            <a:endParaRPr sz="1100"/>
          </a:p>
          <a:p>
            <a:pPr indent="-171450" lvl="0" marL="254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" sz="1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🔍 Our Goal: To help users compare neighborhoods and cities based on real data. </a:t>
            </a:r>
            <a:endParaRPr sz="1100"/>
          </a:p>
          <a:p>
            <a:pPr indent="-171450" lvl="0" marL="254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" sz="1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🧾 Input: A city/state or ZIP code the user is interested in </a:t>
            </a:r>
            <a:endParaRPr sz="1100"/>
          </a:p>
          <a:p>
            <a:pPr indent="-171450" lvl="0" marL="254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" sz="1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📊 Output: Aggregated statistics, </a:t>
            </a:r>
            <a:r>
              <a:rPr lang="en" sz="15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s</a:t>
            </a:r>
            <a:r>
              <a:rPr b="0" i="0" lang="en" sz="1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imilar city/ZIP suggestions</a:t>
            </a:r>
            <a:r>
              <a:rPr lang="en" sz="15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, g</a:t>
            </a:r>
            <a:r>
              <a:rPr b="0" i="0" lang="en" sz="1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rowth trends, and more!</a:t>
            </a:r>
            <a:endParaRPr sz="1100"/>
          </a:p>
        </p:txBody>
      </p:sp>
      <p:pic>
        <p:nvPicPr>
          <p:cNvPr descr="A person and person holding a map&#10;&#10;Description automatically generated" id="278" name="Google Shape;278;p34"/>
          <p:cNvPicPr preferRelativeResize="0"/>
          <p:nvPr/>
        </p:nvPicPr>
        <p:blipFill rotWithShape="1">
          <a:blip r:embed="rId3">
            <a:alphaModFix/>
          </a:blip>
          <a:srcRect b="2" l="22318" r="26196" t="0"/>
          <a:stretch/>
        </p:blipFill>
        <p:spPr>
          <a:xfrm>
            <a:off x="5692420" y="1202011"/>
            <a:ext cx="3151543" cy="3443086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4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Lustria"/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85" name="Google Shape;285;p35"/>
          <p:cNvSpPr txBox="1"/>
          <p:nvPr/>
        </p:nvSpPr>
        <p:spPr>
          <a:xfrm>
            <a:off x="514350" y="674268"/>
            <a:ext cx="2307024" cy="29362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SEARCH RESULTS PAGE</a:t>
            </a:r>
            <a:endParaRPr sz="1100"/>
          </a:p>
        </p:txBody>
      </p:sp>
      <p:cxnSp>
        <p:nvCxnSpPr>
          <p:cNvPr id="286" name="Google Shape;286;p35"/>
          <p:cNvCxnSpPr/>
          <p:nvPr/>
        </p:nvCxnSpPr>
        <p:spPr>
          <a:xfrm>
            <a:off x="600075" y="542925"/>
            <a:ext cx="10287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screenshot of a website&#10;&#10;Description automatically generated" id="287" name="Google Shape;28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22499" y="132278"/>
            <a:ext cx="4769026" cy="4929228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5"/>
          <p:cNvSpPr txBox="1"/>
          <p:nvPr>
            <p:ph idx="12" type="sldNum"/>
          </p:nvPr>
        </p:nvSpPr>
        <p:spPr>
          <a:xfrm>
            <a:off x="8189259" y="4757738"/>
            <a:ext cx="526095" cy="282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Lustria"/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94" name="Google Shape;294;p36"/>
          <p:cNvSpPr txBox="1"/>
          <p:nvPr/>
        </p:nvSpPr>
        <p:spPr>
          <a:xfrm>
            <a:off x="514349" y="674268"/>
            <a:ext cx="2337487" cy="32408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95001A"/>
              </a:buClr>
              <a:buSzPts val="2700"/>
              <a:buFont typeface="Open Sans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DATASETS</a:t>
            </a:r>
            <a:endParaRPr sz="1100"/>
          </a:p>
        </p:txBody>
      </p:sp>
      <p:cxnSp>
        <p:nvCxnSpPr>
          <p:cNvPr id="295" name="Google Shape;295;p36"/>
          <p:cNvCxnSpPr/>
          <p:nvPr/>
        </p:nvCxnSpPr>
        <p:spPr>
          <a:xfrm>
            <a:off x="600075" y="542925"/>
            <a:ext cx="10287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table with text on it&#10;&#10;Description automatically generated" id="296" name="Google Shape;29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1392" y="1228385"/>
            <a:ext cx="6613975" cy="3240846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6"/>
          <p:cNvSpPr txBox="1"/>
          <p:nvPr>
            <p:ph idx="12" type="sldNum"/>
          </p:nvPr>
        </p:nvSpPr>
        <p:spPr>
          <a:xfrm>
            <a:off x="8189259" y="4767263"/>
            <a:ext cx="510924" cy="302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Lustria"/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03" name="Google Shape;303;p37"/>
          <p:cNvSpPr txBox="1"/>
          <p:nvPr/>
        </p:nvSpPr>
        <p:spPr>
          <a:xfrm>
            <a:off x="616853" y="244561"/>
            <a:ext cx="80985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7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ct val="119512"/>
              <a:buFont typeface="Gill Sans"/>
              <a:buNone/>
            </a:pPr>
            <a:r>
              <a:rPr b="0" i="0" lang="en" sz="4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 PREPROCESSING &amp; ENTITY RESOLUTION</a:t>
            </a:r>
            <a:endParaRPr b="0" i="0" sz="4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4" name="Google Shape;304;p37"/>
          <p:cNvSpPr txBox="1"/>
          <p:nvPr>
            <p:ph idx="12" type="sldNum"/>
          </p:nvPr>
        </p:nvSpPr>
        <p:spPr>
          <a:xfrm>
            <a:off x="8189259" y="4767263"/>
            <a:ext cx="526095" cy="282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Lustria"/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  <p:pic>
        <p:nvPicPr>
          <p:cNvPr id="305" name="Google Shape;30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948" y="768398"/>
            <a:ext cx="2928550" cy="191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948" y="2987815"/>
            <a:ext cx="2928554" cy="1911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7" name="Google Shape;307;p37"/>
          <p:cNvCxnSpPr/>
          <p:nvPr/>
        </p:nvCxnSpPr>
        <p:spPr>
          <a:xfrm>
            <a:off x="616854" y="202307"/>
            <a:ext cx="12288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08" name="Google Shape;308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650" y="764750"/>
            <a:ext cx="4470819" cy="191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97049" y="2987825"/>
            <a:ext cx="4856850" cy="191177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7"/>
          <p:cNvSpPr/>
          <p:nvPr/>
        </p:nvSpPr>
        <p:spPr>
          <a:xfrm>
            <a:off x="5628325" y="1075888"/>
            <a:ext cx="590700" cy="1600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11" name="Google Shape;311;p37"/>
          <p:cNvSpPr/>
          <p:nvPr/>
        </p:nvSpPr>
        <p:spPr>
          <a:xfrm>
            <a:off x="4879950" y="3298800"/>
            <a:ext cx="526200" cy="1600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12" name="Google Shape;312;p37"/>
          <p:cNvSpPr/>
          <p:nvPr/>
        </p:nvSpPr>
        <p:spPr>
          <a:xfrm>
            <a:off x="2165875" y="3298800"/>
            <a:ext cx="663900" cy="1600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descr="A diagram of a company&#10;&#10;Description automatically generated" id="318" name="Google Shape;31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00" y="-3957"/>
            <a:ext cx="8099999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9" name="Google Shape;319;p38"/>
          <p:cNvCxnSpPr/>
          <p:nvPr/>
        </p:nvCxnSpPr>
        <p:spPr>
          <a:xfrm>
            <a:off x="7545463" y="3902557"/>
            <a:ext cx="6858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0" name="Google Shape;320;p38"/>
          <p:cNvSpPr txBox="1"/>
          <p:nvPr>
            <p:ph idx="12" type="sldNum"/>
          </p:nvPr>
        </p:nvSpPr>
        <p:spPr>
          <a:xfrm>
            <a:off x="8189259" y="4767263"/>
            <a:ext cx="526095" cy="282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Lustria"/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  <p:sp>
        <p:nvSpPr>
          <p:cNvPr id="321" name="Google Shape;321;p38"/>
          <p:cNvSpPr txBox="1"/>
          <p:nvPr/>
        </p:nvSpPr>
        <p:spPr>
          <a:xfrm>
            <a:off x="7106481" y="1389117"/>
            <a:ext cx="27426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pen Sans"/>
              <a:buNone/>
            </a:pPr>
            <a:r>
              <a:rPr b="0" i="0" lang="en" sz="33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SCHEMA DESIGN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Patterns: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MVC Pattern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Repository Pattern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Middleware Pattern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Caching Strategy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Stack: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-React, Typescript , UI &amp; Visualizations</a:t>
            </a:r>
            <a:b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-Node, Express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diagram of a software application&#10;&#10;Description automatically generated" id="327" name="Google Shape;32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1268" y="674275"/>
            <a:ext cx="5951406" cy="410645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9"/>
          <p:cNvSpPr txBox="1"/>
          <p:nvPr/>
        </p:nvSpPr>
        <p:spPr>
          <a:xfrm>
            <a:off x="514350" y="674275"/>
            <a:ext cx="6772200" cy="10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95001A"/>
              </a:buClr>
              <a:buSzPts val="2700"/>
              <a:buFont typeface="Open Sans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APPLICATION ARCHITECTURE &amp; TECH STACK</a:t>
            </a:r>
            <a:endParaRPr sz="1100"/>
          </a:p>
        </p:txBody>
      </p:sp>
      <p:cxnSp>
        <p:nvCxnSpPr>
          <p:cNvPr id="329" name="Google Shape;329;p39"/>
          <p:cNvCxnSpPr/>
          <p:nvPr/>
        </p:nvCxnSpPr>
        <p:spPr>
          <a:xfrm>
            <a:off x="600075" y="542925"/>
            <a:ext cx="10287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0" name="Google Shape;330;p39"/>
          <p:cNvSpPr txBox="1"/>
          <p:nvPr>
            <p:ph idx="12" type="sldNum"/>
          </p:nvPr>
        </p:nvSpPr>
        <p:spPr>
          <a:xfrm>
            <a:off x="8189259" y="4767263"/>
            <a:ext cx="526095" cy="282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Lustria"/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336" name="Google Shape;336;p40"/>
          <p:cNvCxnSpPr/>
          <p:nvPr/>
        </p:nvCxnSpPr>
        <p:spPr>
          <a:xfrm>
            <a:off x="600075" y="542925"/>
            <a:ext cx="10287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7" name="Google Shape;337;p40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Lustria"/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  <p:sp>
        <p:nvSpPr>
          <p:cNvPr id="338" name="Google Shape;338;p40"/>
          <p:cNvSpPr txBox="1"/>
          <p:nvPr/>
        </p:nvSpPr>
        <p:spPr>
          <a:xfrm>
            <a:off x="4082944" y="121826"/>
            <a:ext cx="16332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/api/v1/search/zipcode-summaries 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Populates the list of ZIP codes displayed in the search results page—with over 15 filter options</a:t>
            </a:r>
            <a:endParaRPr sz="1100"/>
          </a:p>
        </p:txBody>
      </p:sp>
      <p:pic>
        <p:nvPicPr>
          <p:cNvPr descr="A screen shot of a computer&#10;&#10;Description automatically generated" id="339" name="Google Shape;339;p40"/>
          <p:cNvPicPr preferRelativeResize="0"/>
          <p:nvPr/>
        </p:nvPicPr>
        <p:blipFill rotWithShape="1">
          <a:blip r:embed="rId3">
            <a:alphaModFix/>
          </a:blip>
          <a:srcRect b="-13587" l="-2884" r="1261" t="21733"/>
          <a:stretch/>
        </p:blipFill>
        <p:spPr>
          <a:xfrm>
            <a:off x="4158017" y="855277"/>
            <a:ext cx="1553293" cy="4924284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0"/>
          <p:cNvSpPr txBox="1"/>
          <p:nvPr/>
        </p:nvSpPr>
        <p:spPr>
          <a:xfrm>
            <a:off x="961165" y="657734"/>
            <a:ext cx="1633287" cy="6751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/api/v1/analytics/city-aggregate-comparison 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Aggregate all housing, police, childcare, hospitals and other data for all ZIP codes within a city. </a:t>
            </a:r>
            <a:endParaRPr sz="1100"/>
          </a:p>
        </p:txBody>
      </p:sp>
      <p:pic>
        <p:nvPicPr>
          <p:cNvPr descr="A computer screen shot of a black screen&#10;&#10;Description automatically generated" id="341" name="Google Shape;341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751" y="1389478"/>
            <a:ext cx="2185987" cy="1317422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0"/>
          <p:cNvSpPr txBox="1"/>
          <p:nvPr/>
        </p:nvSpPr>
        <p:spPr>
          <a:xfrm>
            <a:off x="894041" y="2799390"/>
            <a:ext cx="1633287" cy="6751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/api/v1/analytics/similar-cities/:city/:state 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two similar cities from the input city that was used in the city aggregate comparison. </a:t>
            </a:r>
            <a:endParaRPr sz="1100"/>
          </a:p>
        </p:txBody>
      </p:sp>
      <p:pic>
        <p:nvPicPr>
          <p:cNvPr descr="A computer screen shot of a code&#10;&#10;Description automatically generated" id="343" name="Google Shape;343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116" y="3503830"/>
            <a:ext cx="2332834" cy="155039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40"/>
          <p:cNvSpPr txBox="1"/>
          <p:nvPr/>
        </p:nvSpPr>
        <p:spPr>
          <a:xfrm>
            <a:off x="6808105" y="121826"/>
            <a:ext cx="1633287" cy="6751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/api/v1/analytics/similar-zipcodes/:zipcode 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Finds the 4 most similar zip codes based on a weighted calculation for the given zip code </a:t>
            </a:r>
            <a:endParaRPr sz="1100"/>
          </a:p>
        </p:txBody>
      </p:sp>
      <p:pic>
        <p:nvPicPr>
          <p:cNvPr descr="A screen shot of a computer program&#10;&#10;Description automatically generated" id="345" name="Google Shape;345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7429" y="866856"/>
            <a:ext cx="2555381" cy="4187366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0"/>
          <p:cNvSpPr txBox="1"/>
          <p:nvPr/>
        </p:nvSpPr>
        <p:spPr>
          <a:xfrm>
            <a:off x="221276" y="-52474"/>
            <a:ext cx="3936740" cy="60711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pen Sans"/>
              <a:buNone/>
            </a:pPr>
            <a:r>
              <a:rPr b="0" lang="en" sz="3300" u="non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COMPLEX QUERIES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1" name="Google Shape;351;p41"/>
          <p:cNvCxnSpPr/>
          <p:nvPr/>
        </p:nvCxnSpPr>
        <p:spPr>
          <a:xfrm>
            <a:off x="600075" y="542925"/>
            <a:ext cx="794385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2" name="Google Shape;352;p41"/>
          <p:cNvCxnSpPr/>
          <p:nvPr/>
        </p:nvCxnSpPr>
        <p:spPr>
          <a:xfrm>
            <a:off x="600075" y="4607086"/>
            <a:ext cx="79438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3" name="Google Shape;353;p4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54" name="Google Shape;354;p41"/>
          <p:cNvSpPr txBox="1"/>
          <p:nvPr/>
        </p:nvSpPr>
        <p:spPr>
          <a:xfrm>
            <a:off x="528066" y="685800"/>
            <a:ext cx="8015859" cy="5986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95001A"/>
              </a:buClr>
              <a:buSzPts val="3000"/>
              <a:buFont typeface="Open Sans"/>
              <a:buNone/>
            </a:pPr>
            <a:r>
              <a:rPr lang="en" sz="3000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PERFORMANCE</a:t>
            </a:r>
            <a:endParaRPr sz="1100"/>
          </a:p>
        </p:txBody>
      </p:sp>
      <p:cxnSp>
        <p:nvCxnSpPr>
          <p:cNvPr id="355" name="Google Shape;355;p41"/>
          <p:cNvCxnSpPr/>
          <p:nvPr/>
        </p:nvCxnSpPr>
        <p:spPr>
          <a:xfrm>
            <a:off x="603504" y="542925"/>
            <a:ext cx="7941564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table with text and numbers&#10;&#10;Description automatically generated" id="356" name="Google Shape;35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153" y="1754166"/>
            <a:ext cx="4554141" cy="1901243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1"/>
          <p:cNvSpPr txBox="1"/>
          <p:nvPr/>
        </p:nvSpPr>
        <p:spPr>
          <a:xfrm>
            <a:off x="4745300" y="1013089"/>
            <a:ext cx="37986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Materialized Views</a:t>
            </a:r>
            <a:r>
              <a:rPr lang="en" sz="11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:</a:t>
            </a:r>
            <a:endParaRPr sz="1100"/>
          </a:p>
          <a:p>
            <a:pPr indent="-171450" lvl="1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Created for expensive, frequently used aggregations</a:t>
            </a:r>
            <a:endParaRPr sz="1100"/>
          </a:p>
          <a:p>
            <a:pPr indent="-171450" lvl="1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Greatly reduced query times (query 3 &amp; 4)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Indexing</a:t>
            </a:r>
            <a:r>
              <a:rPr lang="en" sz="11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:</a:t>
            </a:r>
            <a:endParaRPr sz="1100"/>
          </a:p>
          <a:p>
            <a:pPr indent="-171450" lvl="1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Indexed high-traffic columns like zipcode, city, and state</a:t>
            </a:r>
            <a:endParaRPr sz="1100"/>
          </a:p>
          <a:p>
            <a:pPr indent="-171450" lvl="1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Improved lookup and join performance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Query Optimization</a:t>
            </a:r>
            <a:r>
              <a:rPr lang="en" sz="11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:</a:t>
            </a:r>
            <a:endParaRPr sz="1100"/>
          </a:p>
          <a:p>
            <a:pPr indent="-171450" lvl="1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Refactored complex CTE-heavy queries into fewer joins/subqueries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Caching</a:t>
            </a:r>
            <a:r>
              <a:rPr lang="en" sz="11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:</a:t>
            </a:r>
            <a:endParaRPr sz="1100"/>
          </a:p>
          <a:p>
            <a:pPr indent="-171450" lvl="1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Cached featured cities data to avoid redundant computation</a:t>
            </a:r>
            <a:endParaRPr sz="1100"/>
          </a:p>
        </p:txBody>
      </p:sp>
      <p:cxnSp>
        <p:nvCxnSpPr>
          <p:cNvPr id="358" name="Google Shape;358;p41"/>
          <p:cNvCxnSpPr/>
          <p:nvPr/>
        </p:nvCxnSpPr>
        <p:spPr>
          <a:xfrm>
            <a:off x="606799" y="4609199"/>
            <a:ext cx="7937126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9" name="Google Shape;359;p41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Lustria"/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4" name="Google Shape;364;p42"/>
          <p:cNvCxnSpPr/>
          <p:nvPr/>
        </p:nvCxnSpPr>
        <p:spPr>
          <a:xfrm>
            <a:off x="600075" y="542925"/>
            <a:ext cx="794385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5" name="Google Shape;365;p42"/>
          <p:cNvCxnSpPr/>
          <p:nvPr/>
        </p:nvCxnSpPr>
        <p:spPr>
          <a:xfrm>
            <a:off x="600075" y="4607086"/>
            <a:ext cx="79438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6" name="Google Shape;366;p4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67" name="Google Shape;367;p42"/>
          <p:cNvSpPr txBox="1"/>
          <p:nvPr/>
        </p:nvSpPr>
        <p:spPr>
          <a:xfrm>
            <a:off x="528076" y="457200"/>
            <a:ext cx="2125800" cy="3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95001A"/>
              </a:buClr>
              <a:buSzPts val="2700"/>
              <a:buFont typeface="Open Sans"/>
              <a:buNone/>
            </a:pPr>
            <a:r>
              <a:rPr lang="en" sz="2400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TECHNICAL CHALLENGES</a:t>
            </a:r>
            <a:endParaRPr sz="1100"/>
          </a:p>
        </p:txBody>
      </p:sp>
      <p:cxnSp>
        <p:nvCxnSpPr>
          <p:cNvPr id="368" name="Google Shape;368;p42"/>
          <p:cNvCxnSpPr/>
          <p:nvPr/>
        </p:nvCxnSpPr>
        <p:spPr>
          <a:xfrm flipH="1" rot="10800000">
            <a:off x="2653866" y="542925"/>
            <a:ext cx="11961" cy="408755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9" name="Google Shape;369;p42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Lustria"/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  <p:grpSp>
        <p:nvGrpSpPr>
          <p:cNvPr id="370" name="Google Shape;370;p42"/>
          <p:cNvGrpSpPr/>
          <p:nvPr/>
        </p:nvGrpSpPr>
        <p:grpSpPr>
          <a:xfrm>
            <a:off x="3052993" y="19049"/>
            <a:ext cx="2679893" cy="4051616"/>
            <a:chOff x="689661" y="0"/>
            <a:chExt cx="3573190" cy="5402154"/>
          </a:xfrm>
        </p:grpSpPr>
        <p:sp>
          <p:nvSpPr>
            <p:cNvPr id="371" name="Google Shape;371;p42"/>
            <p:cNvSpPr/>
            <p:nvPr/>
          </p:nvSpPr>
          <p:spPr>
            <a:xfrm>
              <a:off x="1084170" y="0"/>
              <a:ext cx="1420073" cy="1420226"/>
            </a:xfrm>
            <a:custGeom>
              <a:rect b="b" l="l" r="r" t="t"/>
              <a:pathLst>
                <a:path extrusionOk="0" h="120000" w="120000">
                  <a:moveTo>
                    <a:pt x="8412" y="60000"/>
                  </a:moveTo>
                  <a:lnTo>
                    <a:pt x="8412" y="60000"/>
                  </a:lnTo>
                  <a:cubicBezTo>
                    <a:pt x="8412" y="32962"/>
                    <a:pt x="29287" y="10511"/>
                    <a:pt x="56253" y="8547"/>
                  </a:cubicBezTo>
                  <a:cubicBezTo>
                    <a:pt x="83219" y="6584"/>
                    <a:pt x="107127" y="25773"/>
                    <a:pt x="111044" y="52526"/>
                  </a:cubicBezTo>
                  <a:cubicBezTo>
                    <a:pt x="114961" y="79279"/>
                    <a:pt x="97558" y="104517"/>
                    <a:pt x="71161" y="110367"/>
                  </a:cubicBezTo>
                  <a:lnTo>
                    <a:pt x="70592" y="118429"/>
                  </a:lnTo>
                  <a:lnTo>
                    <a:pt x="56830" y="104890"/>
                  </a:lnTo>
                  <a:lnTo>
                    <a:pt x="72705" y="88507"/>
                  </a:lnTo>
                  <a:lnTo>
                    <a:pt x="72144" y="96444"/>
                  </a:lnTo>
                  <a:cubicBezTo>
                    <a:pt x="90761" y="90239"/>
                    <a:pt x="101708" y="71000"/>
                    <a:pt x="97532" y="51825"/>
                  </a:cubicBezTo>
                  <a:cubicBezTo>
                    <a:pt x="93356" y="32650"/>
                    <a:pt x="75400" y="19706"/>
                    <a:pt x="55889" y="21806"/>
                  </a:cubicBezTo>
                  <a:cubicBezTo>
                    <a:pt x="36379" y="23907"/>
                    <a:pt x="21588" y="40376"/>
                    <a:pt x="21588" y="60000"/>
                  </a:cubicBezTo>
                  <a:close/>
                </a:path>
              </a:pathLst>
            </a:custGeom>
            <a:solidFill>
              <a:srgbClr val="DA9A8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42"/>
            <p:cNvSpPr/>
            <p:nvPr/>
          </p:nvSpPr>
          <p:spPr>
            <a:xfrm>
              <a:off x="1397700" y="514285"/>
              <a:ext cx="792481" cy="3959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42"/>
            <p:cNvSpPr txBox="1"/>
            <p:nvPr/>
          </p:nvSpPr>
          <p:spPr>
            <a:xfrm>
              <a:off x="1397700" y="514285"/>
              <a:ext cx="792481" cy="3959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75" lIns="4275" spcFirstLastPara="1" rIns="4275" wrap="square" tIns="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Lustria"/>
                <a:buNone/>
              </a:pPr>
              <a:r>
                <a:rPr b="1" lang="en" sz="7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1. Finding the Right Data</a:t>
              </a:r>
              <a:endParaRPr sz="1100"/>
            </a:p>
          </p:txBody>
        </p:sp>
        <p:sp>
          <p:nvSpPr>
            <p:cNvPr id="374" name="Google Shape;374;p42"/>
            <p:cNvSpPr/>
            <p:nvPr/>
          </p:nvSpPr>
          <p:spPr>
            <a:xfrm>
              <a:off x="689661" y="816265"/>
              <a:ext cx="1420073" cy="1420226"/>
            </a:xfrm>
            <a:custGeom>
              <a:rect b="b" l="l" r="r" t="t"/>
              <a:pathLst>
                <a:path extrusionOk="0" h="120000" w="120000">
                  <a:moveTo>
                    <a:pt x="96481" y="23523"/>
                  </a:moveTo>
                  <a:lnTo>
                    <a:pt x="87164" y="32839"/>
                  </a:lnTo>
                  <a:cubicBezTo>
                    <a:pt x="75944" y="21617"/>
                    <a:pt x="58979" y="18449"/>
                    <a:pt x="44466" y="24867"/>
                  </a:cubicBezTo>
                  <a:cubicBezTo>
                    <a:pt x="29954" y="31284"/>
                    <a:pt x="20880" y="45966"/>
                    <a:pt x="21631" y="61817"/>
                  </a:cubicBezTo>
                  <a:cubicBezTo>
                    <a:pt x="22382" y="77668"/>
                    <a:pt x="32801" y="91427"/>
                    <a:pt x="47856" y="96444"/>
                  </a:cubicBezTo>
                  <a:lnTo>
                    <a:pt x="47295" y="88507"/>
                  </a:lnTo>
                  <a:lnTo>
                    <a:pt x="63170" y="104890"/>
                  </a:lnTo>
                  <a:lnTo>
                    <a:pt x="49408" y="118429"/>
                  </a:lnTo>
                  <a:lnTo>
                    <a:pt x="48839" y="110367"/>
                  </a:lnTo>
                  <a:lnTo>
                    <a:pt x="48839" y="110367"/>
                  </a:lnTo>
                  <a:cubicBezTo>
                    <a:pt x="27395" y="105615"/>
                    <a:pt x="11312" y="87807"/>
                    <a:pt x="8761" y="65991"/>
                  </a:cubicBezTo>
                  <a:cubicBezTo>
                    <a:pt x="6210" y="44176"/>
                    <a:pt x="17752" y="23137"/>
                    <a:pt x="37521" y="13566"/>
                  </a:cubicBezTo>
                  <a:cubicBezTo>
                    <a:pt x="57290" y="3996"/>
                    <a:pt x="80951" y="7991"/>
                    <a:pt x="96481" y="23523"/>
                  </a:cubicBezTo>
                  <a:close/>
                </a:path>
              </a:pathLst>
            </a:custGeom>
            <a:solidFill>
              <a:srgbClr val="C6D58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42"/>
            <p:cNvSpPr/>
            <p:nvPr/>
          </p:nvSpPr>
          <p:spPr>
            <a:xfrm>
              <a:off x="1938301" y="1247897"/>
              <a:ext cx="1203274" cy="565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42"/>
            <p:cNvSpPr txBox="1"/>
            <p:nvPr/>
          </p:nvSpPr>
          <p:spPr>
            <a:xfrm>
              <a:off x="1938301" y="1247897"/>
              <a:ext cx="1203274" cy="565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75" lIns="4275" spcFirstLastPara="1" rIns="4275" wrap="square" tIns="4275">
              <a:noAutofit/>
            </a:bodyPr>
            <a:lstStyle/>
            <a:p>
              <a:pPr indent="-44450" lvl="1" marL="381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Lustria"/>
                <a:buChar char="•"/>
              </a:pPr>
              <a:r>
                <a:rPr b="0" i="0" lang="en" sz="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Food App: too many string-based joins</a:t>
              </a:r>
              <a:endParaRPr sz="1100"/>
            </a:p>
            <a:p>
              <a:pPr indent="-44450" lvl="1" marL="38100" marR="0" rtl="0" algn="l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Lustria"/>
                <a:buChar char="•"/>
              </a:pPr>
              <a:r>
                <a:rPr b="0" i="0" lang="en" sz="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NPM Trend Tracker: lacked sufficient data</a:t>
              </a:r>
              <a:endParaRPr sz="1100"/>
            </a:p>
          </p:txBody>
        </p:sp>
        <p:sp>
          <p:nvSpPr>
            <p:cNvPr id="377" name="Google Shape;377;p42"/>
            <p:cNvSpPr/>
            <p:nvPr/>
          </p:nvSpPr>
          <p:spPr>
            <a:xfrm>
              <a:off x="1001592" y="1332171"/>
              <a:ext cx="792481" cy="3959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42"/>
            <p:cNvSpPr txBox="1"/>
            <p:nvPr/>
          </p:nvSpPr>
          <p:spPr>
            <a:xfrm>
              <a:off x="1001592" y="1332171"/>
              <a:ext cx="792481" cy="3959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75" lIns="4275" spcFirstLastPara="1" rIns="4275" wrap="square" tIns="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Lustria"/>
                <a:buNone/>
              </a:pPr>
              <a:r>
                <a:rPr b="0" lang="en" sz="7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Explored multiple ideas:</a:t>
              </a:r>
              <a:endParaRPr sz="1100"/>
            </a:p>
          </p:txBody>
        </p:sp>
        <p:sp>
          <p:nvSpPr>
            <p:cNvPr id="379" name="Google Shape;379;p42"/>
            <p:cNvSpPr/>
            <p:nvPr/>
          </p:nvSpPr>
          <p:spPr>
            <a:xfrm>
              <a:off x="1084170" y="1635232"/>
              <a:ext cx="1420073" cy="1420226"/>
            </a:xfrm>
            <a:custGeom>
              <a:rect b="b" l="l" r="r" t="t"/>
              <a:pathLst>
                <a:path extrusionOk="0" h="120000" w="120000">
                  <a:moveTo>
                    <a:pt x="23519" y="23523"/>
                  </a:moveTo>
                  <a:cubicBezTo>
                    <a:pt x="39049" y="7991"/>
                    <a:pt x="62710" y="3996"/>
                    <a:pt x="82479" y="13566"/>
                  </a:cubicBezTo>
                  <a:cubicBezTo>
                    <a:pt x="102248" y="23137"/>
                    <a:pt x="113790" y="44176"/>
                    <a:pt x="111239" y="65991"/>
                  </a:cubicBezTo>
                  <a:cubicBezTo>
                    <a:pt x="108688" y="87807"/>
                    <a:pt x="92605" y="105615"/>
                    <a:pt x="71161" y="110367"/>
                  </a:cubicBezTo>
                  <a:lnTo>
                    <a:pt x="70592" y="118429"/>
                  </a:lnTo>
                  <a:lnTo>
                    <a:pt x="56830" y="104890"/>
                  </a:lnTo>
                  <a:lnTo>
                    <a:pt x="72705" y="88507"/>
                  </a:lnTo>
                  <a:lnTo>
                    <a:pt x="72144" y="96444"/>
                  </a:lnTo>
                  <a:cubicBezTo>
                    <a:pt x="87199" y="91427"/>
                    <a:pt x="97618" y="77668"/>
                    <a:pt x="98369" y="61817"/>
                  </a:cubicBezTo>
                  <a:cubicBezTo>
                    <a:pt x="99120" y="45966"/>
                    <a:pt x="90046" y="31284"/>
                    <a:pt x="75534" y="24867"/>
                  </a:cubicBezTo>
                  <a:cubicBezTo>
                    <a:pt x="61021" y="18449"/>
                    <a:pt x="44056" y="21617"/>
                    <a:pt x="32836" y="32839"/>
                  </a:cubicBezTo>
                  <a:close/>
                </a:path>
              </a:pathLst>
            </a:custGeom>
            <a:solidFill>
              <a:srgbClr val="92D0A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42"/>
            <p:cNvSpPr/>
            <p:nvPr/>
          </p:nvSpPr>
          <p:spPr>
            <a:xfrm>
              <a:off x="2745931" y="2143075"/>
              <a:ext cx="1516920" cy="565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42"/>
            <p:cNvSpPr txBox="1"/>
            <p:nvPr/>
          </p:nvSpPr>
          <p:spPr>
            <a:xfrm>
              <a:off x="2745931" y="2143075"/>
              <a:ext cx="1516920" cy="565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75" lIns="4275" spcFirstLastPara="1" rIns="4275" wrap="square" tIns="4275">
              <a:noAutofit/>
            </a:bodyPr>
            <a:lstStyle/>
            <a:p>
              <a:pPr indent="-44450" lvl="1" marL="381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Lustria"/>
                <a:buChar char="•"/>
              </a:pPr>
              <a:r>
                <a:rPr b="0" i="0" lang="en" sz="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Zillow-like location app</a:t>
              </a:r>
              <a:endParaRPr sz="1100"/>
            </a:p>
            <a:p>
              <a:pPr indent="-44450" lvl="1" marL="38100" marR="0" rtl="0" algn="l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Lustria"/>
                <a:buChar char="•"/>
              </a:pPr>
              <a:r>
                <a:rPr b="0" i="0" lang="en" sz="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Zip code as a key simplified joins</a:t>
              </a:r>
              <a:endParaRPr sz="1100"/>
            </a:p>
            <a:p>
              <a:pPr indent="-44450" lvl="1" marL="38100" marR="0" rtl="0" algn="l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Lustria"/>
                <a:buChar char="•"/>
              </a:pPr>
              <a:r>
                <a:rPr b="0" i="0" lang="en" sz="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Rich data from public sources</a:t>
              </a:r>
              <a:endParaRPr sz="1100"/>
            </a:p>
          </p:txBody>
        </p:sp>
        <p:sp>
          <p:nvSpPr>
            <p:cNvPr id="382" name="Google Shape;382;p42"/>
            <p:cNvSpPr/>
            <p:nvPr/>
          </p:nvSpPr>
          <p:spPr>
            <a:xfrm>
              <a:off x="1003476" y="2149517"/>
              <a:ext cx="1580928" cy="3959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42"/>
            <p:cNvSpPr txBox="1"/>
            <p:nvPr/>
          </p:nvSpPr>
          <p:spPr>
            <a:xfrm>
              <a:off x="1003476" y="2149517"/>
              <a:ext cx="1580928" cy="3959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75" lIns="4275" spcFirstLastPara="1" rIns="4275" wrap="square" tIns="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Lustria"/>
                <a:buNone/>
              </a:pPr>
              <a:r>
                <a:rPr b="0" lang="en" sz="7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Solution:</a:t>
              </a:r>
              <a:endParaRPr sz="1100"/>
            </a:p>
          </p:txBody>
        </p:sp>
        <p:sp>
          <p:nvSpPr>
            <p:cNvPr id="384" name="Google Shape;384;p42"/>
            <p:cNvSpPr/>
            <p:nvPr/>
          </p:nvSpPr>
          <p:spPr>
            <a:xfrm>
              <a:off x="689661" y="2453118"/>
              <a:ext cx="1420073" cy="1420226"/>
            </a:xfrm>
            <a:custGeom>
              <a:rect b="b" l="l" r="r" t="t"/>
              <a:pathLst>
                <a:path extrusionOk="0" h="120000" w="120000">
                  <a:moveTo>
                    <a:pt x="96481" y="23523"/>
                  </a:moveTo>
                  <a:lnTo>
                    <a:pt x="87164" y="32839"/>
                  </a:lnTo>
                  <a:cubicBezTo>
                    <a:pt x="75944" y="21617"/>
                    <a:pt x="58979" y="18449"/>
                    <a:pt x="44466" y="24867"/>
                  </a:cubicBezTo>
                  <a:cubicBezTo>
                    <a:pt x="29954" y="31284"/>
                    <a:pt x="20880" y="45966"/>
                    <a:pt x="21631" y="61817"/>
                  </a:cubicBezTo>
                  <a:cubicBezTo>
                    <a:pt x="22382" y="77668"/>
                    <a:pt x="32801" y="91427"/>
                    <a:pt x="47856" y="96444"/>
                  </a:cubicBezTo>
                  <a:lnTo>
                    <a:pt x="47295" y="88507"/>
                  </a:lnTo>
                  <a:lnTo>
                    <a:pt x="63170" y="104890"/>
                  </a:lnTo>
                  <a:lnTo>
                    <a:pt x="49408" y="118429"/>
                  </a:lnTo>
                  <a:lnTo>
                    <a:pt x="48839" y="110367"/>
                  </a:lnTo>
                  <a:lnTo>
                    <a:pt x="48839" y="110367"/>
                  </a:lnTo>
                  <a:cubicBezTo>
                    <a:pt x="27395" y="105615"/>
                    <a:pt x="11312" y="87807"/>
                    <a:pt x="8761" y="65991"/>
                  </a:cubicBezTo>
                  <a:cubicBezTo>
                    <a:pt x="6210" y="44176"/>
                    <a:pt x="17752" y="23137"/>
                    <a:pt x="37521" y="13566"/>
                  </a:cubicBezTo>
                  <a:cubicBezTo>
                    <a:pt x="57290" y="3996"/>
                    <a:pt x="80951" y="7991"/>
                    <a:pt x="96481" y="23523"/>
                  </a:cubicBezTo>
                  <a:close/>
                </a:path>
              </a:pathLst>
            </a:custGeom>
            <a:solidFill>
              <a:srgbClr val="94BACB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42"/>
            <p:cNvSpPr/>
            <p:nvPr/>
          </p:nvSpPr>
          <p:spPr>
            <a:xfrm>
              <a:off x="868931" y="2966750"/>
              <a:ext cx="1316343" cy="3959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42"/>
            <p:cNvSpPr txBox="1"/>
            <p:nvPr/>
          </p:nvSpPr>
          <p:spPr>
            <a:xfrm>
              <a:off x="868931" y="2966750"/>
              <a:ext cx="1316343" cy="3959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75" lIns="4275" spcFirstLastPara="1" rIns="4275" wrap="square" tIns="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Lustria"/>
                <a:buNone/>
              </a:pPr>
              <a:r>
                <a:rPr b="1" lang="en" sz="7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2. Data Cleaning &amp; Foreign Keys</a:t>
              </a:r>
              <a:endParaRPr sz="1100"/>
            </a:p>
          </p:txBody>
        </p:sp>
        <p:sp>
          <p:nvSpPr>
            <p:cNvPr id="387" name="Google Shape;387;p42"/>
            <p:cNvSpPr/>
            <p:nvPr/>
          </p:nvSpPr>
          <p:spPr>
            <a:xfrm>
              <a:off x="1084170" y="3269924"/>
              <a:ext cx="1420073" cy="1420226"/>
            </a:xfrm>
            <a:custGeom>
              <a:rect b="b" l="l" r="r" t="t"/>
              <a:pathLst>
                <a:path extrusionOk="0" h="120000" w="120000">
                  <a:moveTo>
                    <a:pt x="23519" y="23523"/>
                  </a:moveTo>
                  <a:cubicBezTo>
                    <a:pt x="39049" y="7991"/>
                    <a:pt x="62710" y="3996"/>
                    <a:pt x="82479" y="13566"/>
                  </a:cubicBezTo>
                  <a:cubicBezTo>
                    <a:pt x="102248" y="23137"/>
                    <a:pt x="113790" y="44176"/>
                    <a:pt x="111239" y="65991"/>
                  </a:cubicBezTo>
                  <a:cubicBezTo>
                    <a:pt x="108688" y="87807"/>
                    <a:pt x="92605" y="105615"/>
                    <a:pt x="71161" y="110367"/>
                  </a:cubicBezTo>
                  <a:lnTo>
                    <a:pt x="70592" y="118429"/>
                  </a:lnTo>
                  <a:lnTo>
                    <a:pt x="56830" y="104890"/>
                  </a:lnTo>
                  <a:lnTo>
                    <a:pt x="72705" y="88507"/>
                  </a:lnTo>
                  <a:lnTo>
                    <a:pt x="72144" y="96444"/>
                  </a:lnTo>
                  <a:cubicBezTo>
                    <a:pt x="87199" y="91427"/>
                    <a:pt x="97618" y="77668"/>
                    <a:pt x="98369" y="61817"/>
                  </a:cubicBezTo>
                  <a:cubicBezTo>
                    <a:pt x="99120" y="45966"/>
                    <a:pt x="90046" y="31284"/>
                    <a:pt x="75534" y="24867"/>
                  </a:cubicBezTo>
                  <a:cubicBezTo>
                    <a:pt x="61021" y="18449"/>
                    <a:pt x="44056" y="21617"/>
                    <a:pt x="32836" y="32839"/>
                  </a:cubicBezTo>
                  <a:close/>
                </a:path>
              </a:pathLst>
            </a:custGeom>
            <a:solidFill>
              <a:srgbClr val="A996C6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42"/>
            <p:cNvSpPr/>
            <p:nvPr/>
          </p:nvSpPr>
          <p:spPr>
            <a:xfrm>
              <a:off x="978049" y="3811092"/>
              <a:ext cx="1201290" cy="3959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42"/>
            <p:cNvSpPr txBox="1"/>
            <p:nvPr/>
          </p:nvSpPr>
          <p:spPr>
            <a:xfrm>
              <a:off x="978049" y="3811092"/>
              <a:ext cx="1201290" cy="3959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75" lIns="4275" spcFirstLastPara="1" rIns="4275" wrap="square" tIns="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Lustria"/>
                <a:buNone/>
              </a:pPr>
              <a:r>
                <a:rPr b="0" lang="en" sz="7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Encountered foreign key violations during database population</a:t>
              </a:r>
              <a:endParaRPr sz="1100"/>
            </a:p>
          </p:txBody>
        </p:sp>
        <p:sp>
          <p:nvSpPr>
            <p:cNvPr id="390" name="Google Shape;390;p42"/>
            <p:cNvSpPr/>
            <p:nvPr/>
          </p:nvSpPr>
          <p:spPr>
            <a:xfrm>
              <a:off x="790885" y="4181267"/>
              <a:ext cx="1220021" cy="1220887"/>
            </a:xfrm>
            <a:prstGeom prst="blockArc">
              <a:avLst>
                <a:gd fmla="val 0" name="adj1"/>
                <a:gd fmla="val 18900000" name="adj2"/>
                <a:gd fmla="val 12740" name="adj3"/>
              </a:avLst>
            </a:prstGeom>
            <a:solidFill>
              <a:srgbClr val="C099B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42"/>
            <p:cNvSpPr/>
            <p:nvPr/>
          </p:nvSpPr>
          <p:spPr>
            <a:xfrm>
              <a:off x="2066906" y="4536087"/>
              <a:ext cx="1573424" cy="565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42"/>
            <p:cNvSpPr txBox="1"/>
            <p:nvPr/>
          </p:nvSpPr>
          <p:spPr>
            <a:xfrm>
              <a:off x="2066906" y="4536087"/>
              <a:ext cx="1573424" cy="565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75" lIns="4275" spcFirstLastPara="1" rIns="4275" wrap="square" tIns="4275">
              <a:noAutofit/>
            </a:bodyPr>
            <a:lstStyle/>
            <a:p>
              <a:pPr indent="-44450" lvl="1" marL="381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Lustria"/>
                <a:buChar char="•"/>
              </a:pPr>
              <a:r>
                <a:rPr b="0" i="0" lang="en" sz="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Created a set of valid ZIP codes</a:t>
              </a:r>
              <a:endParaRPr sz="1100"/>
            </a:p>
            <a:p>
              <a:pPr indent="-44450" lvl="1" marL="38100" marR="0" rtl="0" algn="l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Lustria"/>
                <a:buChar char="•"/>
              </a:pPr>
              <a:r>
                <a:rPr b="0" i="0" lang="en" sz="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Filtered out invalid rows in Pandas before insertion</a:t>
              </a:r>
              <a:endParaRPr sz="1100"/>
            </a:p>
          </p:txBody>
        </p:sp>
        <p:sp>
          <p:nvSpPr>
            <p:cNvPr id="393" name="Google Shape;393;p42"/>
            <p:cNvSpPr/>
            <p:nvPr/>
          </p:nvSpPr>
          <p:spPr>
            <a:xfrm>
              <a:off x="1001592" y="4602095"/>
              <a:ext cx="792481" cy="3959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42"/>
            <p:cNvSpPr txBox="1"/>
            <p:nvPr/>
          </p:nvSpPr>
          <p:spPr>
            <a:xfrm>
              <a:off x="1001592" y="4602095"/>
              <a:ext cx="792481" cy="3959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75" lIns="4275" spcFirstLastPara="1" rIns="4275" wrap="square" tIns="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Lustria"/>
                <a:buNone/>
              </a:pPr>
              <a:r>
                <a:rPr b="0" lang="en" sz="7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Solution:</a:t>
              </a:r>
              <a:endParaRPr sz="1100"/>
            </a:p>
          </p:txBody>
        </p:sp>
      </p:grpSp>
      <p:grpSp>
        <p:nvGrpSpPr>
          <p:cNvPr id="395" name="Google Shape;395;p42"/>
          <p:cNvGrpSpPr/>
          <p:nvPr/>
        </p:nvGrpSpPr>
        <p:grpSpPr>
          <a:xfrm>
            <a:off x="6057043" y="1000390"/>
            <a:ext cx="2975780" cy="3869254"/>
            <a:chOff x="259968" y="0"/>
            <a:chExt cx="3967707" cy="5159005"/>
          </a:xfrm>
        </p:grpSpPr>
        <p:sp>
          <p:nvSpPr>
            <p:cNvPr id="396" name="Google Shape;396;p42"/>
            <p:cNvSpPr/>
            <p:nvPr/>
          </p:nvSpPr>
          <p:spPr>
            <a:xfrm>
              <a:off x="800380" y="0"/>
              <a:ext cx="1945263" cy="1945461"/>
            </a:xfrm>
            <a:custGeom>
              <a:rect b="b" l="l" r="r" t="t"/>
              <a:pathLst>
                <a:path extrusionOk="0" h="120000" w="120000">
                  <a:moveTo>
                    <a:pt x="8412" y="60000"/>
                  </a:moveTo>
                  <a:lnTo>
                    <a:pt x="8412" y="60000"/>
                  </a:lnTo>
                  <a:cubicBezTo>
                    <a:pt x="8412" y="32962"/>
                    <a:pt x="29287" y="10511"/>
                    <a:pt x="56253" y="8547"/>
                  </a:cubicBezTo>
                  <a:cubicBezTo>
                    <a:pt x="83219" y="6584"/>
                    <a:pt x="107127" y="25773"/>
                    <a:pt x="111044" y="52526"/>
                  </a:cubicBezTo>
                  <a:cubicBezTo>
                    <a:pt x="114961" y="79279"/>
                    <a:pt x="97558" y="104517"/>
                    <a:pt x="71161" y="110367"/>
                  </a:cubicBezTo>
                  <a:lnTo>
                    <a:pt x="70592" y="118429"/>
                  </a:lnTo>
                  <a:lnTo>
                    <a:pt x="56830" y="104890"/>
                  </a:lnTo>
                  <a:lnTo>
                    <a:pt x="72705" y="88507"/>
                  </a:lnTo>
                  <a:lnTo>
                    <a:pt x="72144" y="96444"/>
                  </a:lnTo>
                  <a:cubicBezTo>
                    <a:pt x="90761" y="90239"/>
                    <a:pt x="101708" y="71000"/>
                    <a:pt x="97532" y="51825"/>
                  </a:cubicBezTo>
                  <a:cubicBezTo>
                    <a:pt x="93356" y="32650"/>
                    <a:pt x="75400" y="19706"/>
                    <a:pt x="55889" y="21806"/>
                  </a:cubicBezTo>
                  <a:cubicBezTo>
                    <a:pt x="36379" y="23907"/>
                    <a:pt x="21588" y="40376"/>
                    <a:pt x="21588" y="60000"/>
                  </a:cubicBezTo>
                  <a:close/>
                </a:path>
              </a:pathLst>
            </a:custGeom>
            <a:solidFill>
              <a:srgbClr val="DA9A8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42"/>
            <p:cNvSpPr/>
            <p:nvPr/>
          </p:nvSpPr>
          <p:spPr>
            <a:xfrm>
              <a:off x="1229863" y="704204"/>
              <a:ext cx="1085567" cy="542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42"/>
            <p:cNvSpPr txBox="1"/>
            <p:nvPr/>
          </p:nvSpPr>
          <p:spPr>
            <a:xfrm>
              <a:off x="1229863" y="704204"/>
              <a:ext cx="1085567" cy="542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75" lIns="4275" spcFirstLastPara="1" rIns="4275" wrap="square" tIns="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Lustria"/>
                <a:buNone/>
              </a:pPr>
              <a:r>
                <a:rPr b="1" lang="en" sz="7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3. Query Performance</a:t>
              </a:r>
              <a:endParaRPr sz="1100"/>
            </a:p>
          </p:txBody>
        </p:sp>
        <p:sp>
          <p:nvSpPr>
            <p:cNvPr id="399" name="Google Shape;399;p42"/>
            <p:cNvSpPr/>
            <p:nvPr/>
          </p:nvSpPr>
          <p:spPr>
            <a:xfrm>
              <a:off x="259968" y="1117956"/>
              <a:ext cx="1945263" cy="1945461"/>
            </a:xfrm>
            <a:custGeom>
              <a:rect b="b" l="l" r="r" t="t"/>
              <a:pathLst>
                <a:path extrusionOk="0" h="120000" w="120000">
                  <a:moveTo>
                    <a:pt x="96480" y="23523"/>
                  </a:moveTo>
                  <a:lnTo>
                    <a:pt x="87164" y="32839"/>
                  </a:lnTo>
                  <a:lnTo>
                    <a:pt x="87164" y="32839"/>
                  </a:lnTo>
                  <a:cubicBezTo>
                    <a:pt x="75944" y="21617"/>
                    <a:pt x="58979" y="18450"/>
                    <a:pt x="44466" y="24867"/>
                  </a:cubicBezTo>
                  <a:cubicBezTo>
                    <a:pt x="29954" y="31284"/>
                    <a:pt x="20880" y="45966"/>
                    <a:pt x="21631" y="61817"/>
                  </a:cubicBezTo>
                  <a:cubicBezTo>
                    <a:pt x="22382" y="77668"/>
                    <a:pt x="32801" y="91427"/>
                    <a:pt x="47856" y="96444"/>
                  </a:cubicBezTo>
                  <a:lnTo>
                    <a:pt x="47295" y="88507"/>
                  </a:lnTo>
                  <a:lnTo>
                    <a:pt x="63170" y="104890"/>
                  </a:lnTo>
                  <a:lnTo>
                    <a:pt x="49408" y="118429"/>
                  </a:lnTo>
                  <a:lnTo>
                    <a:pt x="48839" y="110367"/>
                  </a:lnTo>
                  <a:lnTo>
                    <a:pt x="48839" y="110367"/>
                  </a:lnTo>
                  <a:cubicBezTo>
                    <a:pt x="27395" y="105615"/>
                    <a:pt x="11312" y="87807"/>
                    <a:pt x="8761" y="65991"/>
                  </a:cubicBezTo>
                  <a:cubicBezTo>
                    <a:pt x="6210" y="44176"/>
                    <a:pt x="17752" y="23137"/>
                    <a:pt x="37521" y="13566"/>
                  </a:cubicBezTo>
                  <a:cubicBezTo>
                    <a:pt x="57290" y="3996"/>
                    <a:pt x="80951" y="7991"/>
                    <a:pt x="96480" y="23523"/>
                  </a:cubicBezTo>
                  <a:close/>
                </a:path>
              </a:pathLst>
            </a:custGeom>
            <a:solidFill>
              <a:srgbClr val="97D19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42"/>
            <p:cNvSpPr/>
            <p:nvPr/>
          </p:nvSpPr>
          <p:spPr>
            <a:xfrm>
              <a:off x="1970397" y="1708662"/>
              <a:ext cx="1648285" cy="773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42"/>
            <p:cNvSpPr txBox="1"/>
            <p:nvPr/>
          </p:nvSpPr>
          <p:spPr>
            <a:xfrm>
              <a:off x="1970397" y="1708662"/>
              <a:ext cx="1648285" cy="773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75" lIns="4275" spcFirstLastPara="1" rIns="4275" wrap="square" tIns="4275">
              <a:noAutofit/>
            </a:bodyPr>
            <a:lstStyle/>
            <a:p>
              <a:pPr indent="-44450" lvl="1" marL="381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Lustria"/>
                <a:buChar char="•"/>
              </a:pPr>
              <a:r>
                <a:rPr b="0" i="0" lang="en" sz="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Some tables like localmarket (~3M rows) caused major slowdowns</a:t>
              </a:r>
              <a:endParaRPr sz="1100"/>
            </a:p>
          </p:txBody>
        </p:sp>
        <p:sp>
          <p:nvSpPr>
            <p:cNvPr id="402" name="Google Shape;402;p42"/>
            <p:cNvSpPr/>
            <p:nvPr/>
          </p:nvSpPr>
          <p:spPr>
            <a:xfrm>
              <a:off x="687262" y="1824224"/>
              <a:ext cx="1085567" cy="542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42"/>
            <p:cNvSpPr txBox="1"/>
            <p:nvPr/>
          </p:nvSpPr>
          <p:spPr>
            <a:xfrm>
              <a:off x="687262" y="1824224"/>
              <a:ext cx="1085567" cy="542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75" lIns="4275" spcFirstLastPara="1" rIns="4275" wrap="square" tIns="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Lustria"/>
                <a:buNone/>
              </a:pPr>
              <a:r>
                <a:rPr b="0" lang="en" sz="7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Slow running times &gt;1s</a:t>
              </a:r>
              <a:endParaRPr sz="1100"/>
            </a:p>
          </p:txBody>
        </p:sp>
        <p:sp>
          <p:nvSpPr>
            <p:cNvPr id="404" name="Google Shape;404;p42"/>
            <p:cNvSpPr/>
            <p:nvPr/>
          </p:nvSpPr>
          <p:spPr>
            <a:xfrm>
              <a:off x="800380" y="2240040"/>
              <a:ext cx="1945263" cy="1945461"/>
            </a:xfrm>
            <a:custGeom>
              <a:rect b="b" l="l" r="r" t="t"/>
              <a:pathLst>
                <a:path extrusionOk="0" h="120000" w="120000">
                  <a:moveTo>
                    <a:pt x="23520" y="23523"/>
                  </a:moveTo>
                  <a:lnTo>
                    <a:pt x="23520" y="23523"/>
                  </a:lnTo>
                  <a:cubicBezTo>
                    <a:pt x="39049" y="7991"/>
                    <a:pt x="62710" y="3996"/>
                    <a:pt x="82479" y="13566"/>
                  </a:cubicBezTo>
                  <a:cubicBezTo>
                    <a:pt x="102248" y="23137"/>
                    <a:pt x="113790" y="44176"/>
                    <a:pt x="111239" y="65991"/>
                  </a:cubicBezTo>
                  <a:cubicBezTo>
                    <a:pt x="108688" y="87807"/>
                    <a:pt x="92605" y="105615"/>
                    <a:pt x="71161" y="110367"/>
                  </a:cubicBezTo>
                  <a:lnTo>
                    <a:pt x="70592" y="118429"/>
                  </a:lnTo>
                  <a:lnTo>
                    <a:pt x="56830" y="104890"/>
                  </a:lnTo>
                  <a:lnTo>
                    <a:pt x="72705" y="88507"/>
                  </a:lnTo>
                  <a:lnTo>
                    <a:pt x="72144" y="96444"/>
                  </a:lnTo>
                  <a:cubicBezTo>
                    <a:pt x="87199" y="91427"/>
                    <a:pt x="97618" y="77668"/>
                    <a:pt x="98369" y="61817"/>
                  </a:cubicBezTo>
                  <a:cubicBezTo>
                    <a:pt x="99120" y="45966"/>
                    <a:pt x="90046" y="31284"/>
                    <a:pt x="75534" y="24867"/>
                  </a:cubicBezTo>
                  <a:cubicBezTo>
                    <a:pt x="61021" y="18450"/>
                    <a:pt x="44056" y="21617"/>
                    <a:pt x="32836" y="32839"/>
                  </a:cubicBezTo>
                  <a:close/>
                </a:path>
              </a:pathLst>
            </a:custGeom>
            <a:solidFill>
              <a:srgbClr val="95A6C8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42"/>
            <p:cNvSpPr/>
            <p:nvPr/>
          </p:nvSpPr>
          <p:spPr>
            <a:xfrm>
              <a:off x="2647450" y="2763144"/>
              <a:ext cx="1580225" cy="832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42"/>
            <p:cNvSpPr txBox="1"/>
            <p:nvPr/>
          </p:nvSpPr>
          <p:spPr>
            <a:xfrm>
              <a:off x="2647450" y="2763144"/>
              <a:ext cx="1580225" cy="832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75" lIns="4275" spcFirstLastPara="1" rIns="4275" wrap="square" tIns="4275">
              <a:noAutofit/>
            </a:bodyPr>
            <a:lstStyle/>
            <a:p>
              <a:pPr indent="-44450" lvl="1" marL="381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Lustria"/>
                <a:buChar char="•"/>
              </a:pPr>
              <a:r>
                <a:rPr b="0" i="0" lang="en" sz="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Materialized views for expensive joins</a:t>
              </a:r>
              <a:endParaRPr sz="1100"/>
            </a:p>
            <a:p>
              <a:pPr indent="-44450" lvl="1" marL="38100" marR="0" rtl="0" algn="l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Lustria"/>
                <a:buChar char="•"/>
              </a:pPr>
              <a:r>
                <a:rPr b="0" i="0" lang="en" sz="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Indexed zip code columns </a:t>
              </a:r>
              <a:endParaRPr sz="1100"/>
            </a:p>
            <a:p>
              <a:pPr indent="-44450" lvl="1" marL="38100" marR="0" rtl="0" algn="l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Lustria"/>
                <a:buChar char="•"/>
              </a:pPr>
              <a:r>
                <a:rPr b="0" i="0" lang="en" sz="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Limited queries to latest month data</a:t>
              </a:r>
              <a:endParaRPr b="0" i="0" sz="7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indent="-44450" lvl="1" marL="38100" marR="0" rtl="0" algn="l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Lustria"/>
                <a:buChar char="•"/>
              </a:pPr>
              <a:r>
                <a:rPr lang="en" sz="7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caching</a:t>
              </a:r>
              <a:endParaRPr sz="7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07" name="Google Shape;407;p42"/>
            <p:cNvSpPr/>
            <p:nvPr/>
          </p:nvSpPr>
          <p:spPr>
            <a:xfrm>
              <a:off x="689842" y="2944244"/>
              <a:ext cx="2165608" cy="542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42"/>
            <p:cNvSpPr txBox="1"/>
            <p:nvPr/>
          </p:nvSpPr>
          <p:spPr>
            <a:xfrm>
              <a:off x="689842" y="2944244"/>
              <a:ext cx="2165608" cy="542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75" lIns="4275" spcFirstLastPara="1" rIns="4275" wrap="square" tIns="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Lustria"/>
                <a:buNone/>
              </a:pPr>
              <a:r>
                <a:rPr b="0" lang="en" sz="7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Solution:</a:t>
              </a:r>
              <a:endParaRPr sz="1100"/>
            </a:p>
          </p:txBody>
        </p:sp>
        <p:sp>
          <p:nvSpPr>
            <p:cNvPr id="409" name="Google Shape;409;p42"/>
            <p:cNvSpPr/>
            <p:nvPr/>
          </p:nvSpPr>
          <p:spPr>
            <a:xfrm>
              <a:off x="398629" y="3486972"/>
              <a:ext cx="1671225" cy="1672033"/>
            </a:xfrm>
            <a:prstGeom prst="blockArc">
              <a:avLst>
                <a:gd fmla="val 0" name="adj1"/>
                <a:gd fmla="val 18900000" name="adj2"/>
                <a:gd fmla="val 12740" name="adj3"/>
              </a:avLst>
            </a:prstGeom>
            <a:solidFill>
              <a:srgbClr val="C099B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42"/>
            <p:cNvSpPr/>
            <p:nvPr/>
          </p:nvSpPr>
          <p:spPr>
            <a:xfrm>
              <a:off x="687262" y="4064264"/>
              <a:ext cx="1085567" cy="542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42"/>
            <p:cNvSpPr txBox="1"/>
            <p:nvPr/>
          </p:nvSpPr>
          <p:spPr>
            <a:xfrm>
              <a:off x="687262" y="4064264"/>
              <a:ext cx="1085567" cy="542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75" lIns="4275" spcFirstLastPara="1" rIns="4275" wrap="square" tIns="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Lustria"/>
                <a:buNone/>
              </a:pPr>
              <a:r>
                <a:rPr b="0" lang="en" sz="7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Result: Queries ran for &lt;1 s</a:t>
              </a:r>
              <a:endParaRPr sz="110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6" name="Google Shape;416;p43"/>
          <p:cNvCxnSpPr/>
          <p:nvPr/>
        </p:nvCxnSpPr>
        <p:spPr>
          <a:xfrm>
            <a:off x="600075" y="542925"/>
            <a:ext cx="79440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7" name="Google Shape;417;p43"/>
          <p:cNvCxnSpPr/>
          <p:nvPr/>
        </p:nvCxnSpPr>
        <p:spPr>
          <a:xfrm>
            <a:off x="600075" y="4607086"/>
            <a:ext cx="7944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8" name="Google Shape;418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19" name="Google Shape;419;p43"/>
          <p:cNvSpPr txBox="1"/>
          <p:nvPr/>
        </p:nvSpPr>
        <p:spPr>
          <a:xfrm>
            <a:off x="528078" y="685800"/>
            <a:ext cx="5857200" cy="9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95001A"/>
              </a:buClr>
              <a:buSzPts val="2700"/>
              <a:buFont typeface="Open Sans"/>
              <a:buNone/>
            </a:pPr>
            <a:r>
              <a:rPr lang="en"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EXTRA CREDIT FEATURES</a:t>
            </a:r>
            <a:endParaRPr sz="1100"/>
          </a:p>
        </p:txBody>
      </p:sp>
      <p:cxnSp>
        <p:nvCxnSpPr>
          <p:cNvPr id="420" name="Google Shape;420;p43"/>
          <p:cNvCxnSpPr/>
          <p:nvPr/>
        </p:nvCxnSpPr>
        <p:spPr>
          <a:xfrm>
            <a:off x="603504" y="541782"/>
            <a:ext cx="12288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1" name="Google Shape;421;p43"/>
          <p:cNvSpPr txBox="1"/>
          <p:nvPr/>
        </p:nvSpPr>
        <p:spPr>
          <a:xfrm>
            <a:off x="300038" y="1227492"/>
            <a:ext cx="5455800" cy="3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🔐 Username/password + SSO authentication via MongoDB (NoSQL) and Firebase</a:t>
            </a:r>
            <a:endParaRPr sz="15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ustria"/>
              <a:buChar char="•"/>
            </a:pPr>
            <a:r>
              <a:rPr lang="en" sz="15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Firebase manages SSO authentication</a:t>
            </a:r>
            <a:endParaRPr sz="15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-3238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ustria"/>
              <a:buChar char="•"/>
            </a:pPr>
            <a:r>
              <a:rPr lang="en" sz="15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MongoDB creates and stores user documents (from either authentication method)</a:t>
            </a:r>
            <a:endParaRPr sz="15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Bonus features:</a:t>
            </a:r>
            <a:endParaRPr b="1" sz="15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-1714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🧪 Jest tests for server</a:t>
            </a:r>
            <a:endParaRPr sz="15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-1714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📍IP address-based featured cities with in-memory caching</a:t>
            </a:r>
            <a:endParaRPr sz="15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-1714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🗺️ Map view of  ZIP codes using latitude/longitude pins</a:t>
            </a:r>
            <a:endParaRPr sz="15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-1714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📱Fully responsive on mobile, tablet, and desktop</a:t>
            </a:r>
            <a:endParaRPr sz="15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-1714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 sz="15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🌑 Dark mode support based on user’s system preference</a:t>
            </a:r>
            <a:endParaRPr sz="1100"/>
          </a:p>
        </p:txBody>
      </p:sp>
      <p:sp>
        <p:nvSpPr>
          <p:cNvPr id="422" name="Google Shape;422;p43"/>
          <p:cNvSpPr txBox="1"/>
          <p:nvPr>
            <p:ph idx="12" type="sldNum"/>
          </p:nvPr>
        </p:nvSpPr>
        <p:spPr>
          <a:xfrm>
            <a:off x="8189259" y="4767263"/>
            <a:ext cx="50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Lustria"/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  <p:pic>
        <p:nvPicPr>
          <p:cNvPr id="423" name="Google Shape;42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6900" y="896100"/>
            <a:ext cx="3557101" cy="33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4"/>
          <p:cNvSpPr txBox="1"/>
          <p:nvPr/>
        </p:nvSpPr>
        <p:spPr>
          <a:xfrm>
            <a:off x="1485900" y="3912741"/>
            <a:ext cx="6172200" cy="5202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2700"/>
              <a:buFont typeface="Gill Sans"/>
              <a:buNone/>
            </a:pPr>
            <a:r>
              <a:rPr b="0" i="0" lang="en" sz="2700" u="none" cap="none" strike="noStrike">
                <a:solidFill>
                  <a:srgbClr val="95001A"/>
                </a:solidFill>
                <a:latin typeface="Gill Sans"/>
                <a:ea typeface="Gill Sans"/>
                <a:cs typeface="Gill Sans"/>
                <a:sym typeface="Gill Sans"/>
              </a:rPr>
              <a:t>Any questions?</a:t>
            </a:r>
            <a:endParaRPr sz="1100"/>
          </a:p>
        </p:txBody>
      </p:sp>
      <p:pic>
        <p:nvPicPr>
          <p:cNvPr descr="A group of people posing for a picture&#10;&#10;Description automatically generated" id="429" name="Google Shape;42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3707" y="1146216"/>
            <a:ext cx="5046243" cy="2838511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44"/>
          <p:cNvSpPr txBox="1"/>
          <p:nvPr/>
        </p:nvSpPr>
        <p:spPr>
          <a:xfrm>
            <a:off x="1773657" y="626012"/>
            <a:ext cx="6282486" cy="5202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2700"/>
              <a:buFont typeface="Gill Sans"/>
              <a:buNone/>
            </a:pPr>
            <a:r>
              <a:rPr b="0" i="0" lang="en" sz="2700" u="none" cap="none" strike="noStrike">
                <a:solidFill>
                  <a:srgbClr val="95001A"/>
                </a:solidFill>
                <a:latin typeface="Gill Sans"/>
                <a:ea typeface="Gill Sans"/>
                <a:cs typeface="Gill Sans"/>
                <a:sym typeface="Gill Sans"/>
              </a:rPr>
              <a:t>We hope we helped you find your place</a:t>
            </a:r>
            <a:endParaRPr b="0" i="0" sz="2700" u="none" cap="none" strike="noStrike">
              <a:solidFill>
                <a:srgbClr val="95001A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1" name="Google Shape;431;p44"/>
          <p:cNvSpPr txBox="1"/>
          <p:nvPr/>
        </p:nvSpPr>
        <p:spPr>
          <a:xfrm>
            <a:off x="1432764" y="40255"/>
            <a:ext cx="6282486" cy="5202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2700"/>
              <a:buFont typeface="Gill Sans"/>
              <a:buNone/>
            </a:pPr>
            <a:r>
              <a:rPr b="0" i="0" lang="en" sz="2700" u="none" cap="none" strike="noStrike">
                <a:solidFill>
                  <a:srgbClr val="95001A"/>
                </a:solidFill>
                <a:latin typeface="Gill Sans"/>
                <a:ea typeface="Gill Sans"/>
                <a:cs typeface="Gill Sans"/>
                <a:sym typeface="Gill Sans"/>
              </a:rPr>
              <a:t>THANK YOU</a:t>
            </a:r>
            <a:endParaRPr b="0" i="0" sz="2700" u="none" cap="none" strike="noStrike">
              <a:solidFill>
                <a:srgbClr val="95001A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2" name="Google Shape;432;p44"/>
          <p:cNvSpPr txBox="1"/>
          <p:nvPr/>
        </p:nvSpPr>
        <p:spPr>
          <a:xfrm>
            <a:off x="8189259" y="4767263"/>
            <a:ext cx="526095" cy="282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fld id="{00000000-1234-1234-1234-123412341234}" type="slidenum">
              <a:rPr lang="en" sz="11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‹#›</a:t>
            </a:fld>
            <a:endParaRPr sz="11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Custom 23">
      <a:dk1>
        <a:srgbClr val="00144D"/>
      </a:dk1>
      <a:lt1>
        <a:srgbClr val="FFFFFF"/>
      </a:lt1>
      <a:dk2>
        <a:srgbClr val="57000A"/>
      </a:dk2>
      <a:lt2>
        <a:srgbClr val="82AFD3"/>
      </a:lt2>
      <a:accent1>
        <a:srgbClr val="95001A"/>
      </a:accent1>
      <a:accent2>
        <a:srgbClr val="C0504D"/>
      </a:accent2>
      <a:accent3>
        <a:srgbClr val="045EA7"/>
      </a:accent3>
      <a:accent4>
        <a:srgbClr val="F2C100"/>
      </a:accent4>
      <a:accent5>
        <a:srgbClr val="00144D"/>
      </a:accent5>
      <a:accent6>
        <a:srgbClr val="44464B"/>
      </a:accent6>
      <a:hlink>
        <a:srgbClr val="00144D"/>
      </a:hlink>
      <a:folHlink>
        <a:srgbClr val="82AF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